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FinWise AI's pipeline has four stages. First, users fill out a Streamlit form with their financial details. Second — and this is the key design decision — all math (totals, ratios) is computed deterministically in Python, which prevents the LLM from hallucinating numbers. Third, those computed results are handed to an OpenAI LLM through LangChain as context. Finally, the LLM streams back structured JSON, which the frontend renders with a real-time typing effect for a natural, conversational feel.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pillars underpin the technical build. LangChain's ChatPromptTemplate and ChatOpenAI handle prompting. Every LLM response is forced into a strict JSON schema so the frontend can parse it reliably. Responses are streamed token-by-token for a natural typing effect. And the whole thing sits behind a Streamlit UI with tabs, sidebars, and dynamic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cut down on repeat API calls, FinWise AI ships with two caching modes from LangChain. InMemoryCache is fast but ephemeral — it lives in RAM and clears on restart, so it's ideal within a single session. SQLiteCache persists to a .langchain.db file on disk, so cached responses survive across restarts and sessions. Users can switch between the two right from the sidebar.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core pipeline, FinWise AI adds four bonus features: Plotly-based interactive expense visualizations, downloadable PDF reports via fpdf2, multi-currency support for a global audience, and conversation history so users can ask natural follow-up questions with context preserved.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8778240" y="-1463040"/>
            <a:ext cx="5120640" cy="5120640"/>
          </a:xfrm>
          <a:prstGeom prst="ellipse">
            <a:avLst/>
          </a:prstGeom>
          <a:ln w="19050">
            <a:solidFill>
              <a:srgbClr val="134E7C"/>
            </a:solidFill>
            <a:prstDash val="solid"/>
          </a:ln>
        </p:spPr>
      </p:sp>
      <p:sp>
        <p:nvSpPr>
          <p:cNvPr id="3" name="Shape 1"/>
          <p:cNvSpPr/>
          <p:nvPr/>
        </p:nvSpPr>
        <p:spPr>
          <a:xfrm>
            <a:off x="9418320" y="-822960"/>
            <a:ext cx="3840480" cy="3840480"/>
          </a:xfrm>
          <a:prstGeom prst="ellipse">
            <a:avLst/>
          </a:prstGeom>
          <a:ln w="15875">
            <a:solidFill>
              <a:srgbClr val="00C2A8"/>
            </a:solidFill>
            <a:prstDash val="dash"/>
          </a:ln>
        </p:spPr>
      </p:sp>
      <p:sp>
        <p:nvSpPr>
          <p:cNvPr id="4" name="Shape 2"/>
          <p:cNvSpPr/>
          <p:nvPr/>
        </p:nvSpPr>
        <p:spPr>
          <a:xfrm>
            <a:off x="9646920" y="502920"/>
            <a:ext cx="1371600" cy="1371600"/>
          </a:xfrm>
          <a:prstGeom prst="ellipse">
            <a:avLst/>
          </a:prstGeom>
          <a:solidFill>
            <a:srgbClr val="134E7C"/>
          </a:solidFill>
          <a:ln/>
        </p:spPr>
      </p:sp>
      <p:pic>
        <p:nvPicPr>
          <p:cNvPr id="5" name="Image 0" descr="/home/claude/finwise/FaRobot_FFFFFF.png">    </p:cNvPr>
          <p:cNvPicPr>
            <a:picLocks noChangeAspect="1"/>
          </p:cNvPicPr>
          <p:nvPr/>
        </p:nvPicPr>
        <p:blipFill>
          <a:blip r:embed="rId1"/>
          <a:stretch>
            <a:fillRect/>
          </a:stretch>
        </p:blipFill>
        <p:spPr>
          <a:xfrm>
            <a:off x="9955530" y="811530"/>
            <a:ext cx="754380" cy="754380"/>
          </a:xfrm>
          <a:prstGeom prst="rect">
            <a:avLst/>
          </a:prstGeom>
        </p:spPr>
      </p:pic>
      <p:sp>
        <p:nvSpPr>
          <p:cNvPr id="6" name="Text 3"/>
          <p:cNvSpPr/>
          <p:nvPr/>
        </p:nvSpPr>
        <p:spPr>
          <a:xfrm>
            <a:off x="640080" y="1874520"/>
            <a:ext cx="7315200" cy="365760"/>
          </a:xfrm>
          <a:prstGeom prst="rect">
            <a:avLst/>
          </a:prstGeom>
          <a:noFill/>
          <a:ln/>
        </p:spPr>
        <p:txBody>
          <a:bodyPr wrap="square" rtlCol="0" anchor="ctr"/>
          <a:lstStyle/>
          <a:p>
            <a:pPr indent="0" marL="0">
              <a:buNone/>
            </a:pPr>
            <a:r>
              <a:rPr lang="en-US" sz="1400" b="1" spc="300" kern="0" dirty="0">
                <a:solidFill>
                  <a:srgbClr val="00C2A8"/>
                </a:solidFill>
                <a:latin typeface="Calibri" pitchFamily="34" charset="0"/>
                <a:ea typeface="Calibri" pitchFamily="34" charset="-122"/>
                <a:cs typeface="Calibri" pitchFamily="34" charset="-120"/>
              </a:rPr>
              <a:t>EDUCATIONAL FINANCIAL ASSISTANT</a:t>
            </a:r>
            <a:endParaRPr lang="en-US" sz="1400" dirty="0"/>
          </a:p>
        </p:txBody>
      </p:sp>
      <p:sp>
        <p:nvSpPr>
          <p:cNvPr id="7" name="Text 4"/>
          <p:cNvSpPr/>
          <p:nvPr/>
        </p:nvSpPr>
        <p:spPr>
          <a:xfrm>
            <a:off x="594360" y="2286000"/>
            <a:ext cx="8686800" cy="118872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FinWise AI</a:t>
            </a:r>
            <a:endParaRPr lang="en-US" sz="5400" dirty="0"/>
          </a:p>
        </p:txBody>
      </p:sp>
      <p:sp>
        <p:nvSpPr>
          <p:cNvPr id="8" name="Text 5"/>
          <p:cNvSpPr/>
          <p:nvPr/>
        </p:nvSpPr>
        <p:spPr>
          <a:xfrm>
            <a:off x="640080" y="3429000"/>
            <a:ext cx="7863840" cy="548640"/>
          </a:xfrm>
          <a:prstGeom prst="rect">
            <a:avLst/>
          </a:prstGeom>
          <a:noFill/>
          <a:ln/>
        </p:spPr>
        <p:txBody>
          <a:bodyPr wrap="square" rtlCol="0" anchor="ctr"/>
          <a:lstStyle/>
          <a:p>
            <a:pPr indent="0" marL="0">
              <a:buNone/>
            </a:pPr>
            <a:r>
              <a:rPr lang="en-US" sz="1700" i="1" dirty="0">
                <a:solidFill>
                  <a:srgbClr val="CADCFC"/>
                </a:solidFill>
                <a:latin typeface="Calibri" pitchFamily="34" charset="0"/>
                <a:ea typeface="Calibri" pitchFamily="34" charset="-122"/>
                <a:cs typeface="Calibri" pitchFamily="34" charset="-120"/>
              </a:rPr>
              <a:t>Deterministic math you can trust, paired with generative AI you can talk to.</a:t>
            </a:r>
            <a:endParaRPr lang="en-US" sz="1700" dirty="0"/>
          </a:p>
        </p:txBody>
      </p:sp>
      <p:sp>
        <p:nvSpPr>
          <p:cNvPr id="9" name="Shape 6"/>
          <p:cNvSpPr/>
          <p:nvPr/>
        </p:nvSpPr>
        <p:spPr>
          <a:xfrm>
            <a:off x="640080" y="4343400"/>
            <a:ext cx="457200" cy="457200"/>
          </a:xfrm>
          <a:prstGeom prst="ellipse">
            <a:avLst/>
          </a:prstGeom>
          <a:solidFill>
            <a:srgbClr val="134E7C"/>
          </a:solidFill>
          <a:ln/>
        </p:spPr>
      </p:sp>
      <p:pic>
        <p:nvPicPr>
          <p:cNvPr id="10" name="Image 1" descr="/home/claude/finwise/FaCalculator_FFFFFF.png">    </p:cNvPr>
          <p:cNvPicPr>
            <a:picLocks noChangeAspect="1"/>
          </p:cNvPicPr>
          <p:nvPr/>
        </p:nvPicPr>
        <p:blipFill>
          <a:blip r:embed="rId2"/>
          <a:stretch>
            <a:fillRect/>
          </a:stretch>
        </p:blipFill>
        <p:spPr>
          <a:xfrm>
            <a:off x="742950" y="4446270"/>
            <a:ext cx="251460" cy="251460"/>
          </a:xfrm>
          <a:prstGeom prst="rect">
            <a:avLst/>
          </a:prstGeom>
        </p:spPr>
      </p:pic>
      <p:sp>
        <p:nvSpPr>
          <p:cNvPr id="11" name="Text 7"/>
          <p:cNvSpPr/>
          <p:nvPr/>
        </p:nvSpPr>
        <p:spPr>
          <a:xfrm>
            <a:off x="1234440" y="4343400"/>
            <a:ext cx="7315200" cy="457200"/>
          </a:xfrm>
          <a:prstGeom prst="rect">
            <a:avLst/>
          </a:prstGeom>
          <a:noFill/>
          <a:ln/>
        </p:spPr>
        <p:txBody>
          <a:bodyPr wrap="square" rtlCol="0" anchor="ctr"/>
          <a:lstStyle/>
          <a:p>
            <a:pPr indent="0" marL="0">
              <a:buNone/>
            </a:pPr>
            <a:r>
              <a:rPr lang="en-US" sz="1450" dirty="0">
                <a:solidFill>
                  <a:srgbClr val="FFFFFF"/>
                </a:solidFill>
                <a:latin typeface="Calibri" pitchFamily="34" charset="0"/>
                <a:ea typeface="Calibri" pitchFamily="34" charset="-122"/>
                <a:cs typeface="Calibri" pitchFamily="34" charset="-120"/>
              </a:rPr>
              <a:t>Exact calculations, zero hallucinated numbers</a:t>
            </a:r>
            <a:endParaRPr lang="en-US" sz="1450" dirty="0"/>
          </a:p>
        </p:txBody>
      </p:sp>
      <p:sp>
        <p:nvSpPr>
          <p:cNvPr id="12" name="Shape 8"/>
          <p:cNvSpPr/>
          <p:nvPr/>
        </p:nvSpPr>
        <p:spPr>
          <a:xfrm>
            <a:off x="640080" y="4946904"/>
            <a:ext cx="457200" cy="457200"/>
          </a:xfrm>
          <a:prstGeom prst="ellipse">
            <a:avLst/>
          </a:prstGeom>
          <a:solidFill>
            <a:srgbClr val="134E7C"/>
          </a:solidFill>
          <a:ln/>
        </p:spPr>
      </p:sp>
      <p:pic>
        <p:nvPicPr>
          <p:cNvPr id="13" name="Image 2" descr="/home/claude/finwise/FaBrain_FFFFFF.png">    </p:cNvPr>
          <p:cNvPicPr>
            <a:picLocks noChangeAspect="1"/>
          </p:cNvPicPr>
          <p:nvPr/>
        </p:nvPicPr>
        <p:blipFill>
          <a:blip r:embed="rId3"/>
          <a:stretch>
            <a:fillRect/>
          </a:stretch>
        </p:blipFill>
        <p:spPr>
          <a:xfrm>
            <a:off x="742950" y="5049774"/>
            <a:ext cx="251460" cy="251460"/>
          </a:xfrm>
          <a:prstGeom prst="rect">
            <a:avLst/>
          </a:prstGeom>
        </p:spPr>
      </p:pic>
      <p:sp>
        <p:nvSpPr>
          <p:cNvPr id="14" name="Text 9"/>
          <p:cNvSpPr/>
          <p:nvPr/>
        </p:nvSpPr>
        <p:spPr>
          <a:xfrm>
            <a:off x="1234440" y="4946904"/>
            <a:ext cx="7315200" cy="457200"/>
          </a:xfrm>
          <a:prstGeom prst="rect">
            <a:avLst/>
          </a:prstGeom>
          <a:noFill/>
          <a:ln/>
        </p:spPr>
        <p:txBody>
          <a:bodyPr wrap="square" rtlCol="0" anchor="ctr"/>
          <a:lstStyle/>
          <a:p>
            <a:pPr indent="0" marL="0">
              <a:buNone/>
            </a:pPr>
            <a:r>
              <a:rPr lang="en-US" sz="1450" dirty="0">
                <a:solidFill>
                  <a:srgbClr val="FFFFFF"/>
                </a:solidFill>
                <a:latin typeface="Calibri" pitchFamily="34" charset="0"/>
                <a:ea typeface="Calibri" pitchFamily="34" charset="-122"/>
                <a:cs typeface="Calibri" pitchFamily="34" charset="-120"/>
              </a:rPr>
              <a:t>LLM-powered analysis via LangChain + OpenAI</a:t>
            </a:r>
            <a:endParaRPr lang="en-US" sz="1450" dirty="0"/>
          </a:p>
        </p:txBody>
      </p:sp>
      <p:sp>
        <p:nvSpPr>
          <p:cNvPr id="15" name="Shape 10"/>
          <p:cNvSpPr/>
          <p:nvPr/>
        </p:nvSpPr>
        <p:spPr>
          <a:xfrm>
            <a:off x="640080" y="5550408"/>
            <a:ext cx="457200" cy="457200"/>
          </a:xfrm>
          <a:prstGeom prst="ellipse">
            <a:avLst/>
          </a:prstGeom>
          <a:solidFill>
            <a:srgbClr val="134E7C"/>
          </a:solidFill>
          <a:ln/>
        </p:spPr>
      </p:sp>
      <p:pic>
        <p:nvPicPr>
          <p:cNvPr id="16" name="Image 3" descr="/home/claude/finwise/FaBolt_FFFFFF.png">    </p:cNvPr>
          <p:cNvPicPr>
            <a:picLocks noChangeAspect="1"/>
          </p:cNvPicPr>
          <p:nvPr/>
        </p:nvPicPr>
        <p:blipFill>
          <a:blip r:embed="rId4"/>
          <a:stretch>
            <a:fillRect/>
          </a:stretch>
        </p:blipFill>
        <p:spPr>
          <a:xfrm>
            <a:off x="742950" y="5653278"/>
            <a:ext cx="251460" cy="251460"/>
          </a:xfrm>
          <a:prstGeom prst="rect">
            <a:avLst/>
          </a:prstGeom>
        </p:spPr>
      </p:pic>
      <p:sp>
        <p:nvSpPr>
          <p:cNvPr id="17" name="Text 11"/>
          <p:cNvSpPr/>
          <p:nvPr/>
        </p:nvSpPr>
        <p:spPr>
          <a:xfrm>
            <a:off x="1234440" y="5550408"/>
            <a:ext cx="7315200" cy="457200"/>
          </a:xfrm>
          <a:prstGeom prst="rect">
            <a:avLst/>
          </a:prstGeom>
          <a:noFill/>
          <a:ln/>
        </p:spPr>
        <p:txBody>
          <a:bodyPr wrap="square" rtlCol="0" anchor="ctr"/>
          <a:lstStyle/>
          <a:p>
            <a:pPr indent="0" marL="0">
              <a:buNone/>
            </a:pPr>
            <a:r>
              <a:rPr lang="en-US" sz="1450" dirty="0">
                <a:solidFill>
                  <a:srgbClr val="FFFFFF"/>
                </a:solidFill>
                <a:latin typeface="Calibri" pitchFamily="34" charset="0"/>
                <a:ea typeface="Calibri" pitchFamily="34" charset="-122"/>
                <a:cs typeface="Calibri" pitchFamily="34" charset="-120"/>
              </a:rPr>
              <a:t>Real-time streaming, typing-effect UX</a:t>
            </a:r>
            <a:endParaRPr lang="en-US" sz="1450" dirty="0"/>
          </a:p>
        </p:txBody>
      </p:sp>
      <p:sp>
        <p:nvSpPr>
          <p:cNvPr id="18" name="Text 12"/>
          <p:cNvSpPr/>
          <p:nvPr/>
        </p:nvSpPr>
        <p:spPr>
          <a:xfrm>
            <a:off x="457200" y="6537960"/>
            <a:ext cx="3657600" cy="274320"/>
          </a:xfrm>
          <a:prstGeom prst="rect">
            <a:avLst/>
          </a:prstGeom>
          <a:noFill/>
          <a:ln/>
        </p:spPr>
        <p:txBody>
          <a:bodyPr wrap="square"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FinWise AI</a:t>
            </a:r>
            <a:endParaRPr lang="en-US" sz="1000" dirty="0"/>
          </a:p>
        </p:txBody>
      </p:sp>
      <p:sp>
        <p:nvSpPr>
          <p:cNvPr id="19" name="Text 13"/>
          <p:cNvSpPr/>
          <p:nvPr/>
        </p:nvSpPr>
        <p:spPr>
          <a:xfrm>
            <a:off x="11247120" y="6537960"/>
            <a:ext cx="457200" cy="274320"/>
          </a:xfrm>
          <a:prstGeom prst="rect">
            <a:avLst/>
          </a:prstGeom>
          <a:noFill/>
          <a:ln/>
        </p:spPr>
        <p:txBody>
          <a:bodyPr wrap="square"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B"/>
        </a:solidFill>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a:ln/>
        </p:spPr>
        <p:txBody>
          <a:bodyPr wrap="square"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Architecture &amp; Workflow</a:t>
            </a:r>
            <a:endParaRPr lang="en-US" sz="3200" dirty="0"/>
          </a:p>
        </p:txBody>
      </p:sp>
      <p:sp>
        <p:nvSpPr>
          <p:cNvPr id="3" name="Text 1"/>
          <p:cNvSpPr/>
          <p:nvPr/>
        </p:nvSpPr>
        <p:spPr>
          <a:xfrm>
            <a:off x="548640" y="987552"/>
            <a:ext cx="9144000" cy="365760"/>
          </a:xfrm>
          <a:prstGeom prst="rect">
            <a:avLst/>
          </a:prstGeom>
          <a:noFill/>
          <a:ln/>
        </p:spPr>
        <p:txBody>
          <a:bodyPr wrap="square"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From raw user input to a streamed, trustworthy recommendation</a:t>
            </a:r>
            <a:endParaRPr lang="en-US" sz="1400" dirty="0"/>
          </a:p>
        </p:txBody>
      </p:sp>
      <p:sp>
        <p:nvSpPr>
          <p:cNvPr id="4" name="Shape 2"/>
          <p:cNvSpPr/>
          <p:nvPr/>
        </p:nvSpPr>
        <p:spPr>
          <a:xfrm>
            <a:off x="548640" y="1691640"/>
            <a:ext cx="11064240" cy="1005840"/>
          </a:xfrm>
          <a:prstGeom prst="roundRect">
            <a:avLst>
              <a:gd name="adj" fmla="val 7273"/>
            </a:avLst>
          </a:prstGeom>
          <a:solidFill>
            <a:srgbClr val="FFFFFF"/>
          </a:solidFill>
          <a:ln/>
          <a:effectLst>
            <a:outerShdw sx="100000" sy="100000" kx="0" ky="0" algn="bl" rotWithShape="0" blurRad="76200" dist="25400" dir="5400000">
              <a:srgbClr val="1B4965">
                <a:alpha val="12000"/>
              </a:srgbClr>
            </a:outerShdw>
          </a:effectLst>
        </p:spPr>
      </p:sp>
      <p:sp>
        <p:nvSpPr>
          <p:cNvPr id="5" name="Shape 3"/>
          <p:cNvSpPr/>
          <p:nvPr/>
        </p:nvSpPr>
        <p:spPr>
          <a:xfrm>
            <a:off x="822960" y="1874520"/>
            <a:ext cx="640080" cy="640080"/>
          </a:xfrm>
          <a:prstGeom prst="ellipse">
            <a:avLst/>
          </a:prstGeom>
          <a:solidFill>
            <a:srgbClr val="134E7C"/>
          </a:solidFill>
          <a:ln/>
        </p:spPr>
      </p:sp>
      <p:pic>
        <p:nvPicPr>
          <p:cNvPr id="6" name="Image 0" descr="/home/claude/finwise/FaKeyboard_FFFFFF.png">    </p:cNvPr>
          <p:cNvPicPr>
            <a:picLocks noChangeAspect="1"/>
          </p:cNvPicPr>
          <p:nvPr/>
        </p:nvPicPr>
        <p:blipFill>
          <a:blip r:embed="rId1"/>
          <a:stretch>
            <a:fillRect/>
          </a:stretch>
        </p:blipFill>
        <p:spPr>
          <a:xfrm>
            <a:off x="982980" y="2034540"/>
            <a:ext cx="320040" cy="320040"/>
          </a:xfrm>
          <a:prstGeom prst="rect">
            <a:avLst/>
          </a:prstGeom>
        </p:spPr>
      </p:pic>
      <p:sp>
        <p:nvSpPr>
          <p:cNvPr id="7" name="Text 4"/>
          <p:cNvSpPr/>
          <p:nvPr/>
        </p:nvSpPr>
        <p:spPr>
          <a:xfrm>
            <a:off x="1600200" y="1764792"/>
            <a:ext cx="822960" cy="777240"/>
          </a:xfrm>
          <a:prstGeom prst="rect">
            <a:avLst/>
          </a:prstGeom>
          <a:noFill/>
          <a:ln/>
        </p:spPr>
        <p:txBody>
          <a:bodyPr wrap="square" rtlCol="0" anchor="t"/>
          <a:lstStyle/>
          <a:p>
            <a:pPr algn="l" indent="0" marL="0">
              <a:buNone/>
            </a:pPr>
            <a:r>
              <a:rPr lang="en-US" sz="2600" b="1" dirty="0">
                <a:solidFill>
                  <a:srgbClr val="CADCFC"/>
                </a:solidFill>
                <a:latin typeface="Cambria" pitchFamily="34" charset="0"/>
                <a:ea typeface="Cambria" pitchFamily="34" charset="-122"/>
                <a:cs typeface="Cambria" pitchFamily="34" charset="-120"/>
              </a:rPr>
              <a:t>01</a:t>
            </a:r>
            <a:endParaRPr lang="en-US" sz="2600" dirty="0"/>
          </a:p>
        </p:txBody>
      </p:sp>
      <p:sp>
        <p:nvSpPr>
          <p:cNvPr id="8" name="Text 5"/>
          <p:cNvSpPr/>
          <p:nvPr/>
        </p:nvSpPr>
        <p:spPr>
          <a:xfrm>
            <a:off x="2331720" y="1801368"/>
            <a:ext cx="905256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Input Phase</a:t>
            </a:r>
            <a:endParaRPr lang="en-US" sz="1600" dirty="0"/>
          </a:p>
        </p:txBody>
      </p:sp>
      <p:sp>
        <p:nvSpPr>
          <p:cNvPr id="9" name="Text 6"/>
          <p:cNvSpPr/>
          <p:nvPr/>
        </p:nvSpPr>
        <p:spPr>
          <a:xfrm>
            <a:off x="2331720" y="2148840"/>
            <a:ext cx="9052560" cy="457200"/>
          </a:xfrm>
          <a:prstGeom prst="rect">
            <a:avLst/>
          </a:prstGeom>
          <a:noFill/>
          <a:ln/>
        </p:spPr>
        <p:txBody>
          <a:bodyPr wrap="square" lIns="0" tIns="0" rIns="0" bIns="0" rtlCol="0" anchor="ctr"/>
          <a:lstStyle/>
          <a:p>
            <a:pPr indent="0" marL="0">
              <a:buNone/>
            </a:pPr>
            <a:r>
              <a:rPr lang="en-US" sz="1250" dirty="0">
                <a:solidFill>
                  <a:srgbClr val="5A6B7B"/>
                </a:solidFill>
                <a:latin typeface="Calibri" pitchFamily="34" charset="0"/>
                <a:ea typeface="Calibri" pitchFamily="34" charset="-122"/>
                <a:cs typeface="Calibri" pitchFamily="34" charset="-120"/>
              </a:rPr>
              <a:t>Users enter financial details through a responsive Streamlit form.</a:t>
            </a:r>
            <a:endParaRPr lang="en-US" sz="1250" dirty="0"/>
          </a:p>
        </p:txBody>
      </p:sp>
      <p:sp>
        <p:nvSpPr>
          <p:cNvPr id="10" name="Shape 7"/>
          <p:cNvSpPr/>
          <p:nvPr/>
        </p:nvSpPr>
        <p:spPr>
          <a:xfrm>
            <a:off x="548640" y="2862072"/>
            <a:ext cx="11064240" cy="1005840"/>
          </a:xfrm>
          <a:prstGeom prst="roundRect">
            <a:avLst>
              <a:gd name="adj" fmla="val 7273"/>
            </a:avLst>
          </a:prstGeom>
          <a:solidFill>
            <a:srgbClr val="FFFFFF"/>
          </a:solidFill>
          <a:ln/>
          <a:effectLst>
            <a:outerShdw sx="100000" sy="100000" kx="0" ky="0" algn="bl" rotWithShape="0" blurRad="76200" dist="25400" dir="5400000">
              <a:srgbClr val="1B4965">
                <a:alpha val="12000"/>
              </a:srgbClr>
            </a:outerShdw>
          </a:effectLst>
        </p:spPr>
      </p:sp>
      <p:sp>
        <p:nvSpPr>
          <p:cNvPr id="11" name="Shape 8"/>
          <p:cNvSpPr/>
          <p:nvPr/>
        </p:nvSpPr>
        <p:spPr>
          <a:xfrm>
            <a:off x="822960" y="3044952"/>
            <a:ext cx="640080" cy="640080"/>
          </a:xfrm>
          <a:prstGeom prst="ellipse">
            <a:avLst/>
          </a:prstGeom>
          <a:solidFill>
            <a:srgbClr val="134E7C"/>
          </a:solidFill>
          <a:ln/>
        </p:spPr>
      </p:sp>
      <p:pic>
        <p:nvPicPr>
          <p:cNvPr id="12" name="Image 1" descr="/home/claude/finwise/FaCalculator_FFFFFF.png">    </p:cNvPr>
          <p:cNvPicPr>
            <a:picLocks noChangeAspect="1"/>
          </p:cNvPicPr>
          <p:nvPr/>
        </p:nvPicPr>
        <p:blipFill>
          <a:blip r:embed="rId2"/>
          <a:stretch>
            <a:fillRect/>
          </a:stretch>
        </p:blipFill>
        <p:spPr>
          <a:xfrm>
            <a:off x="982980" y="3204972"/>
            <a:ext cx="320040" cy="320040"/>
          </a:xfrm>
          <a:prstGeom prst="rect">
            <a:avLst/>
          </a:prstGeom>
        </p:spPr>
      </p:pic>
      <p:sp>
        <p:nvSpPr>
          <p:cNvPr id="13" name="Text 9"/>
          <p:cNvSpPr/>
          <p:nvPr/>
        </p:nvSpPr>
        <p:spPr>
          <a:xfrm>
            <a:off x="1600200" y="2935224"/>
            <a:ext cx="822960" cy="777240"/>
          </a:xfrm>
          <a:prstGeom prst="rect">
            <a:avLst/>
          </a:prstGeom>
          <a:noFill/>
          <a:ln/>
        </p:spPr>
        <p:txBody>
          <a:bodyPr wrap="square" rtlCol="0" anchor="t"/>
          <a:lstStyle/>
          <a:p>
            <a:pPr algn="l" indent="0" marL="0">
              <a:buNone/>
            </a:pPr>
            <a:r>
              <a:rPr lang="en-US" sz="2600" b="1" dirty="0">
                <a:solidFill>
                  <a:srgbClr val="CADCFC"/>
                </a:solidFill>
                <a:latin typeface="Cambria" pitchFamily="34" charset="0"/>
                <a:ea typeface="Cambria" pitchFamily="34" charset="-122"/>
                <a:cs typeface="Cambria" pitchFamily="34" charset="-120"/>
              </a:rPr>
              <a:t>02</a:t>
            </a:r>
            <a:endParaRPr lang="en-US" sz="2600" dirty="0"/>
          </a:p>
        </p:txBody>
      </p:sp>
      <p:sp>
        <p:nvSpPr>
          <p:cNvPr id="14" name="Text 10"/>
          <p:cNvSpPr/>
          <p:nvPr/>
        </p:nvSpPr>
        <p:spPr>
          <a:xfrm>
            <a:off x="2331720" y="2971800"/>
            <a:ext cx="905256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Python Calculation Phase</a:t>
            </a:r>
            <a:endParaRPr lang="en-US" sz="1600" dirty="0"/>
          </a:p>
        </p:txBody>
      </p:sp>
      <p:sp>
        <p:nvSpPr>
          <p:cNvPr id="15" name="Text 11"/>
          <p:cNvSpPr/>
          <p:nvPr/>
        </p:nvSpPr>
        <p:spPr>
          <a:xfrm>
            <a:off x="2331720" y="3319272"/>
            <a:ext cx="9052560" cy="457200"/>
          </a:xfrm>
          <a:prstGeom prst="rect">
            <a:avLst/>
          </a:prstGeom>
          <a:noFill/>
          <a:ln/>
        </p:spPr>
        <p:txBody>
          <a:bodyPr wrap="square" lIns="0" tIns="0" rIns="0" bIns="0" rtlCol="0" anchor="ctr"/>
          <a:lstStyle/>
          <a:p>
            <a:pPr indent="0" marL="0">
              <a:buNone/>
            </a:pPr>
            <a:r>
              <a:rPr lang="en-US" sz="1250" dirty="0">
                <a:solidFill>
                  <a:srgbClr val="5A6B7B"/>
                </a:solidFill>
                <a:latin typeface="Calibri" pitchFamily="34" charset="0"/>
                <a:ea typeface="Calibri" pitchFamily="34" charset="-122"/>
                <a:cs typeface="Calibri" pitchFamily="34" charset="-120"/>
              </a:rPr>
              <a:t>Deterministic math (totals, ratios) runs in Python, so the LLM never hallucinates numbers.</a:t>
            </a:r>
            <a:endParaRPr lang="en-US" sz="1250" dirty="0"/>
          </a:p>
        </p:txBody>
      </p:sp>
      <p:sp>
        <p:nvSpPr>
          <p:cNvPr id="16" name="Shape 12"/>
          <p:cNvSpPr/>
          <p:nvPr/>
        </p:nvSpPr>
        <p:spPr>
          <a:xfrm>
            <a:off x="548640" y="4032504"/>
            <a:ext cx="11064240" cy="1005840"/>
          </a:xfrm>
          <a:prstGeom prst="roundRect">
            <a:avLst>
              <a:gd name="adj" fmla="val 7273"/>
            </a:avLst>
          </a:prstGeom>
          <a:solidFill>
            <a:srgbClr val="FFFFFF"/>
          </a:solidFill>
          <a:ln/>
          <a:effectLst>
            <a:outerShdw sx="100000" sy="100000" kx="0" ky="0" algn="bl" rotWithShape="0" blurRad="76200" dist="25400" dir="5400000">
              <a:srgbClr val="1B4965">
                <a:alpha val="12000"/>
              </a:srgbClr>
            </a:outerShdw>
          </a:effectLst>
        </p:spPr>
      </p:sp>
      <p:sp>
        <p:nvSpPr>
          <p:cNvPr id="17" name="Shape 13"/>
          <p:cNvSpPr/>
          <p:nvPr/>
        </p:nvSpPr>
        <p:spPr>
          <a:xfrm>
            <a:off x="822960" y="4215384"/>
            <a:ext cx="640080" cy="640080"/>
          </a:xfrm>
          <a:prstGeom prst="ellipse">
            <a:avLst/>
          </a:prstGeom>
          <a:solidFill>
            <a:srgbClr val="134E7C"/>
          </a:solidFill>
          <a:ln/>
        </p:spPr>
      </p:sp>
      <p:pic>
        <p:nvPicPr>
          <p:cNvPr id="18" name="Image 2" descr="/home/claude/finwise/FaBrain_FFFFFF.png">    </p:cNvPr>
          <p:cNvPicPr>
            <a:picLocks noChangeAspect="1"/>
          </p:cNvPicPr>
          <p:nvPr/>
        </p:nvPicPr>
        <p:blipFill>
          <a:blip r:embed="rId3"/>
          <a:stretch>
            <a:fillRect/>
          </a:stretch>
        </p:blipFill>
        <p:spPr>
          <a:xfrm>
            <a:off x="982980" y="4375404"/>
            <a:ext cx="320040" cy="320040"/>
          </a:xfrm>
          <a:prstGeom prst="rect">
            <a:avLst/>
          </a:prstGeom>
        </p:spPr>
      </p:pic>
      <p:sp>
        <p:nvSpPr>
          <p:cNvPr id="19" name="Text 14"/>
          <p:cNvSpPr/>
          <p:nvPr/>
        </p:nvSpPr>
        <p:spPr>
          <a:xfrm>
            <a:off x="1600200" y="4105656"/>
            <a:ext cx="822960" cy="777240"/>
          </a:xfrm>
          <a:prstGeom prst="rect">
            <a:avLst/>
          </a:prstGeom>
          <a:noFill/>
          <a:ln/>
        </p:spPr>
        <p:txBody>
          <a:bodyPr wrap="square" rtlCol="0" anchor="t"/>
          <a:lstStyle/>
          <a:p>
            <a:pPr algn="l" indent="0" marL="0">
              <a:buNone/>
            </a:pPr>
            <a:r>
              <a:rPr lang="en-US" sz="2600" b="1" dirty="0">
                <a:solidFill>
                  <a:srgbClr val="CADCFC"/>
                </a:solidFill>
                <a:latin typeface="Cambria" pitchFamily="34" charset="0"/>
                <a:ea typeface="Cambria" pitchFamily="34" charset="-122"/>
                <a:cs typeface="Cambria" pitchFamily="34" charset="-120"/>
              </a:rPr>
              <a:t>03</a:t>
            </a:r>
            <a:endParaRPr lang="en-US" sz="2600" dirty="0"/>
          </a:p>
        </p:txBody>
      </p:sp>
      <p:sp>
        <p:nvSpPr>
          <p:cNvPr id="20" name="Text 15"/>
          <p:cNvSpPr/>
          <p:nvPr/>
        </p:nvSpPr>
        <p:spPr>
          <a:xfrm>
            <a:off x="2331720" y="4142232"/>
            <a:ext cx="905256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AI Analysis Phase</a:t>
            </a:r>
            <a:endParaRPr lang="en-US" sz="1600" dirty="0"/>
          </a:p>
        </p:txBody>
      </p:sp>
      <p:sp>
        <p:nvSpPr>
          <p:cNvPr id="21" name="Text 16"/>
          <p:cNvSpPr/>
          <p:nvPr/>
        </p:nvSpPr>
        <p:spPr>
          <a:xfrm>
            <a:off x="2331720" y="4489704"/>
            <a:ext cx="9052560" cy="457200"/>
          </a:xfrm>
          <a:prstGeom prst="rect">
            <a:avLst/>
          </a:prstGeom>
          <a:noFill/>
          <a:ln/>
        </p:spPr>
        <p:txBody>
          <a:bodyPr wrap="square" lIns="0" tIns="0" rIns="0" bIns="0" rtlCol="0" anchor="ctr"/>
          <a:lstStyle/>
          <a:p>
            <a:pPr indent="0" marL="0">
              <a:buNone/>
            </a:pPr>
            <a:r>
              <a:rPr lang="en-US" sz="1250" dirty="0">
                <a:solidFill>
                  <a:srgbClr val="5A6B7B"/>
                </a:solidFill>
                <a:latin typeface="Calibri" pitchFamily="34" charset="0"/>
                <a:ea typeface="Calibri" pitchFamily="34" charset="-122"/>
                <a:cs typeface="Calibri" pitchFamily="34" charset="-120"/>
              </a:rPr>
              <a:t>Calculated results are passed as context to an OpenAI LLM via LangChain.</a:t>
            </a:r>
            <a:endParaRPr lang="en-US" sz="1250" dirty="0"/>
          </a:p>
        </p:txBody>
      </p:sp>
      <p:sp>
        <p:nvSpPr>
          <p:cNvPr id="22" name="Shape 17"/>
          <p:cNvSpPr/>
          <p:nvPr/>
        </p:nvSpPr>
        <p:spPr>
          <a:xfrm>
            <a:off x="548640" y="5202936"/>
            <a:ext cx="11064240" cy="1005840"/>
          </a:xfrm>
          <a:prstGeom prst="roundRect">
            <a:avLst>
              <a:gd name="adj" fmla="val 7273"/>
            </a:avLst>
          </a:prstGeom>
          <a:solidFill>
            <a:srgbClr val="FFFFFF"/>
          </a:solidFill>
          <a:ln/>
          <a:effectLst>
            <a:outerShdw sx="100000" sy="100000" kx="0" ky="0" algn="bl" rotWithShape="0" blurRad="76200" dist="25400" dir="5400000">
              <a:srgbClr val="1B4965">
                <a:alpha val="12000"/>
              </a:srgbClr>
            </a:outerShdw>
          </a:effectLst>
        </p:spPr>
      </p:sp>
      <p:sp>
        <p:nvSpPr>
          <p:cNvPr id="23" name="Shape 18"/>
          <p:cNvSpPr/>
          <p:nvPr/>
        </p:nvSpPr>
        <p:spPr>
          <a:xfrm>
            <a:off x="822960" y="5385816"/>
            <a:ext cx="640080" cy="640080"/>
          </a:xfrm>
          <a:prstGeom prst="ellipse">
            <a:avLst/>
          </a:prstGeom>
          <a:solidFill>
            <a:srgbClr val="134E7C"/>
          </a:solidFill>
          <a:ln/>
        </p:spPr>
      </p:sp>
      <p:pic>
        <p:nvPicPr>
          <p:cNvPr id="24" name="Image 3" descr="/home/claude/finwise/FaBolt_FFFFFF.png">    </p:cNvPr>
          <p:cNvPicPr>
            <a:picLocks noChangeAspect="1"/>
          </p:cNvPicPr>
          <p:nvPr/>
        </p:nvPicPr>
        <p:blipFill>
          <a:blip r:embed="rId4"/>
          <a:stretch>
            <a:fillRect/>
          </a:stretch>
        </p:blipFill>
        <p:spPr>
          <a:xfrm>
            <a:off x="982980" y="5545836"/>
            <a:ext cx="320040" cy="320040"/>
          </a:xfrm>
          <a:prstGeom prst="rect">
            <a:avLst/>
          </a:prstGeom>
        </p:spPr>
      </p:pic>
      <p:sp>
        <p:nvSpPr>
          <p:cNvPr id="25" name="Text 19"/>
          <p:cNvSpPr/>
          <p:nvPr/>
        </p:nvSpPr>
        <p:spPr>
          <a:xfrm>
            <a:off x="1600200" y="5276088"/>
            <a:ext cx="822960" cy="777240"/>
          </a:xfrm>
          <a:prstGeom prst="rect">
            <a:avLst/>
          </a:prstGeom>
          <a:noFill/>
          <a:ln/>
        </p:spPr>
        <p:txBody>
          <a:bodyPr wrap="square" rtlCol="0" anchor="t"/>
          <a:lstStyle/>
          <a:p>
            <a:pPr algn="l" indent="0" marL="0">
              <a:buNone/>
            </a:pPr>
            <a:r>
              <a:rPr lang="en-US" sz="2600" b="1" dirty="0">
                <a:solidFill>
                  <a:srgbClr val="CADCFC"/>
                </a:solidFill>
                <a:latin typeface="Cambria" pitchFamily="34" charset="0"/>
                <a:ea typeface="Cambria" pitchFamily="34" charset="-122"/>
                <a:cs typeface="Cambria" pitchFamily="34" charset="-120"/>
              </a:rPr>
              <a:t>04</a:t>
            </a:r>
            <a:endParaRPr lang="en-US" sz="2600" dirty="0"/>
          </a:p>
        </p:txBody>
      </p:sp>
      <p:sp>
        <p:nvSpPr>
          <p:cNvPr id="26" name="Text 20"/>
          <p:cNvSpPr/>
          <p:nvPr/>
        </p:nvSpPr>
        <p:spPr>
          <a:xfrm>
            <a:off x="2331720" y="5312664"/>
            <a:ext cx="905256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Output Phase</a:t>
            </a:r>
            <a:endParaRPr lang="en-US" sz="1600" dirty="0"/>
          </a:p>
        </p:txBody>
      </p:sp>
      <p:sp>
        <p:nvSpPr>
          <p:cNvPr id="27" name="Text 21"/>
          <p:cNvSpPr/>
          <p:nvPr/>
        </p:nvSpPr>
        <p:spPr>
          <a:xfrm>
            <a:off x="2331720" y="5660136"/>
            <a:ext cx="9052560" cy="457200"/>
          </a:xfrm>
          <a:prstGeom prst="rect">
            <a:avLst/>
          </a:prstGeom>
          <a:noFill/>
          <a:ln/>
        </p:spPr>
        <p:txBody>
          <a:bodyPr wrap="square" lIns="0" tIns="0" rIns="0" bIns="0" rtlCol="0" anchor="ctr"/>
          <a:lstStyle/>
          <a:p>
            <a:pPr indent="0" marL="0">
              <a:buNone/>
            </a:pPr>
            <a:r>
              <a:rPr lang="en-US" sz="1250" dirty="0">
                <a:solidFill>
                  <a:srgbClr val="5A6B7B"/>
                </a:solidFill>
                <a:latin typeface="Calibri" pitchFamily="34" charset="0"/>
                <a:ea typeface="Calibri" pitchFamily="34" charset="-122"/>
                <a:cs typeface="Calibri" pitchFamily="34" charset="-120"/>
              </a:rPr>
              <a:t>The LLM streams structured JSON back to the frontend in real time, creating a typing effect.</a:t>
            </a:r>
            <a:endParaRPr lang="en-US" sz="1250" dirty="0"/>
          </a:p>
        </p:txBody>
      </p:sp>
      <p:sp>
        <p:nvSpPr>
          <p:cNvPr id="29" name="Text 22"/>
          <p:cNvSpPr/>
          <p:nvPr/>
        </p:nvSpPr>
        <p:spPr>
          <a:xfrm>
            <a:off x="457200" y="6537960"/>
            <a:ext cx="3657600" cy="274320"/>
          </a:xfrm>
          <a:prstGeom prst="rect">
            <a:avLst/>
          </a:prstGeom>
          <a:noFill/>
          <a:ln/>
        </p:spPr>
        <p:txBody>
          <a:bodyPr wrap="square" rtlCol="0" anchor="ctr"/>
          <a:lstStyle/>
          <a:p>
            <a:pPr algn="l" indent="0" marL="0">
              <a:buNone/>
            </a:pPr>
            <a:r>
              <a:rPr lang="en-US" sz="1000" dirty="0">
                <a:solidFill>
                  <a:srgbClr val="5A6B7B"/>
                </a:solidFill>
                <a:latin typeface="Calibri" pitchFamily="34" charset="0"/>
                <a:ea typeface="Calibri" pitchFamily="34" charset="-122"/>
                <a:cs typeface="Calibri" pitchFamily="34" charset="-120"/>
              </a:rPr>
              <a:t>FinWise AI</a:t>
            </a:r>
            <a:endParaRPr lang="en-US" sz="1000" dirty="0"/>
          </a:p>
        </p:txBody>
      </p:sp>
      <p:sp>
        <p:nvSpPr>
          <p:cNvPr id="30" name="Text 23"/>
          <p:cNvSpPr/>
          <p:nvPr/>
        </p:nvSpPr>
        <p:spPr>
          <a:xfrm>
            <a:off x="11247120" y="653796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B"/>
        </a:solidFill>
      </p:bgPr>
    </p:bg>
    <p:spTree>
      <p:nvGrpSpPr>
        <p:cNvPr id="1" name=""/>
        <p:cNvGrpSpPr/>
        <p:nvPr/>
      </p:nvGrpSpPr>
      <p:grpSpPr>
        <a:xfrm>
          <a:off x="0" y="0"/>
          <a:ext cx="0" cy="0"/>
          <a:chOff x="0" y="0"/>
          <a:chExt cx="0" cy="0"/>
        </a:xfrm>
      </p:grpSpPr>
      <p:sp>
        <p:nvSpPr>
          <p:cNvPr id="2" name="Text 0"/>
          <p:cNvSpPr/>
          <p:nvPr/>
        </p:nvSpPr>
        <p:spPr>
          <a:xfrm>
            <a:off x="548640" y="411480"/>
            <a:ext cx="10515600" cy="640080"/>
          </a:xfrm>
          <a:prstGeom prst="rect">
            <a:avLst/>
          </a:prstGeom>
          <a:noFill/>
          <a:ln/>
        </p:spPr>
        <p:txBody>
          <a:bodyPr wrap="square"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Technical Implementation &amp; Features</a:t>
            </a:r>
            <a:endParaRPr lang="en-US" sz="3200" dirty="0"/>
          </a:p>
        </p:txBody>
      </p:sp>
      <p:sp>
        <p:nvSpPr>
          <p:cNvPr id="3" name="Text 1"/>
          <p:cNvSpPr/>
          <p:nvPr/>
        </p:nvSpPr>
        <p:spPr>
          <a:xfrm>
            <a:off x="548640" y="987552"/>
            <a:ext cx="10058400" cy="365760"/>
          </a:xfrm>
          <a:prstGeom prst="rect">
            <a:avLst/>
          </a:prstGeom>
          <a:noFill/>
          <a:ln/>
        </p:spPr>
        <p:txBody>
          <a:bodyPr wrap="square"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The core stack that makes reliable, real-time AI analysis possible</a:t>
            </a:r>
            <a:endParaRPr lang="en-US" sz="1400" dirty="0"/>
          </a:p>
        </p:txBody>
      </p:sp>
      <p:sp>
        <p:nvSpPr>
          <p:cNvPr id="4" name="Shape 2"/>
          <p:cNvSpPr/>
          <p:nvPr/>
        </p:nvSpPr>
        <p:spPr>
          <a:xfrm>
            <a:off x="548640" y="1783080"/>
            <a:ext cx="5440680" cy="1965960"/>
          </a:xfrm>
          <a:prstGeom prst="roundRect">
            <a:avLst>
              <a:gd name="adj" fmla="val 4651"/>
            </a:avLst>
          </a:prstGeom>
          <a:solidFill>
            <a:srgbClr val="FFFFFF"/>
          </a:solidFill>
          <a:ln/>
          <a:effectLst>
            <a:outerShdw sx="100000" sy="100000" kx="0" ky="0" algn="bl" rotWithShape="0" blurRad="76200" dist="25400" dir="5400000">
              <a:srgbClr val="1B4965">
                <a:alpha val="12000"/>
              </a:srgbClr>
            </a:outerShdw>
          </a:effectLst>
        </p:spPr>
      </p:sp>
      <p:sp>
        <p:nvSpPr>
          <p:cNvPr id="5" name="Shape 3"/>
          <p:cNvSpPr/>
          <p:nvPr/>
        </p:nvSpPr>
        <p:spPr>
          <a:xfrm>
            <a:off x="868680" y="2103120"/>
            <a:ext cx="685800" cy="685800"/>
          </a:xfrm>
          <a:prstGeom prst="ellipse">
            <a:avLst/>
          </a:prstGeom>
          <a:solidFill>
            <a:srgbClr val="0B2545"/>
          </a:solidFill>
          <a:ln/>
        </p:spPr>
      </p:sp>
      <p:pic>
        <p:nvPicPr>
          <p:cNvPr id="6" name="Image 0" descr="/home/claude/finwise/FaLink_FFFFFF.png">    </p:cNvPr>
          <p:cNvPicPr>
            <a:picLocks noChangeAspect="1"/>
          </p:cNvPicPr>
          <p:nvPr/>
        </p:nvPicPr>
        <p:blipFill>
          <a:blip r:embed="rId1"/>
          <a:stretch>
            <a:fillRect/>
          </a:stretch>
        </p:blipFill>
        <p:spPr>
          <a:xfrm>
            <a:off x="1040130" y="2274570"/>
            <a:ext cx="342900" cy="342900"/>
          </a:xfrm>
          <a:prstGeom prst="rect">
            <a:avLst/>
          </a:prstGeom>
        </p:spPr>
      </p:pic>
      <p:sp>
        <p:nvSpPr>
          <p:cNvPr id="7" name="Text 4"/>
          <p:cNvSpPr/>
          <p:nvPr/>
        </p:nvSpPr>
        <p:spPr>
          <a:xfrm>
            <a:off x="868680" y="2926080"/>
            <a:ext cx="480060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LangChain Integration</a:t>
            </a:r>
            <a:endParaRPr lang="en-US" sz="1600" dirty="0"/>
          </a:p>
        </p:txBody>
      </p:sp>
      <p:sp>
        <p:nvSpPr>
          <p:cNvPr id="8" name="Text 5"/>
          <p:cNvSpPr/>
          <p:nvPr/>
        </p:nvSpPr>
        <p:spPr>
          <a:xfrm>
            <a:off x="868680" y="3264408"/>
            <a:ext cx="4800600" cy="457200"/>
          </a:xfrm>
          <a:prstGeom prst="rect">
            <a:avLst/>
          </a:prstGeom>
          <a:noFill/>
          <a:ln/>
        </p:spPr>
        <p:txBody>
          <a:bodyPr wrap="square" lIns="0" tIns="0" rIns="0" bIns="0" rtlCol="0" anchor="ctr"/>
          <a:lstStyle/>
          <a:p>
            <a:pPr indent="0" marL="0">
              <a:buNone/>
            </a:pPr>
            <a:r>
              <a:rPr lang="en-US" sz="1250" dirty="0">
                <a:solidFill>
                  <a:srgbClr val="5A6B7B"/>
                </a:solidFill>
                <a:latin typeface="Calibri" pitchFamily="34" charset="0"/>
                <a:ea typeface="Calibri" pitchFamily="34" charset="-122"/>
                <a:cs typeface="Calibri" pitchFamily="34" charset="-120"/>
              </a:rPr>
              <a:t>Powered by ChatPromptTemplate and ChatOpenAI for structured, composable prompting.</a:t>
            </a:r>
            <a:endParaRPr lang="en-US" sz="1250" dirty="0"/>
          </a:p>
        </p:txBody>
      </p:sp>
      <p:sp>
        <p:nvSpPr>
          <p:cNvPr id="9" name="Shape 6"/>
          <p:cNvSpPr/>
          <p:nvPr/>
        </p:nvSpPr>
        <p:spPr>
          <a:xfrm>
            <a:off x="6172200" y="1783080"/>
            <a:ext cx="5440680" cy="1965960"/>
          </a:xfrm>
          <a:prstGeom prst="roundRect">
            <a:avLst>
              <a:gd name="adj" fmla="val 4651"/>
            </a:avLst>
          </a:prstGeom>
          <a:solidFill>
            <a:srgbClr val="FFFFFF"/>
          </a:solidFill>
          <a:ln/>
          <a:effectLst>
            <a:outerShdw sx="100000" sy="100000" kx="0" ky="0" algn="bl" rotWithShape="0" blurRad="76200" dist="25400" dir="5400000">
              <a:srgbClr val="1B4965">
                <a:alpha val="12000"/>
              </a:srgbClr>
            </a:outerShdw>
          </a:effectLst>
        </p:spPr>
      </p:sp>
      <p:sp>
        <p:nvSpPr>
          <p:cNvPr id="10" name="Shape 7"/>
          <p:cNvSpPr/>
          <p:nvPr/>
        </p:nvSpPr>
        <p:spPr>
          <a:xfrm>
            <a:off x="6492240" y="2103120"/>
            <a:ext cx="685800" cy="685800"/>
          </a:xfrm>
          <a:prstGeom prst="ellipse">
            <a:avLst/>
          </a:prstGeom>
          <a:solidFill>
            <a:srgbClr val="0B2545"/>
          </a:solidFill>
          <a:ln/>
        </p:spPr>
      </p:sp>
      <p:pic>
        <p:nvPicPr>
          <p:cNvPr id="11" name="Image 1" descr="/home/claude/finwise/FaCode_FFFFFF.png">    </p:cNvPr>
          <p:cNvPicPr>
            <a:picLocks noChangeAspect="1"/>
          </p:cNvPicPr>
          <p:nvPr/>
        </p:nvPicPr>
        <p:blipFill>
          <a:blip r:embed="rId2"/>
          <a:stretch>
            <a:fillRect/>
          </a:stretch>
        </p:blipFill>
        <p:spPr>
          <a:xfrm>
            <a:off x="6663690" y="2274570"/>
            <a:ext cx="342900" cy="342900"/>
          </a:xfrm>
          <a:prstGeom prst="rect">
            <a:avLst/>
          </a:prstGeom>
        </p:spPr>
      </p:pic>
      <p:sp>
        <p:nvSpPr>
          <p:cNvPr id="12" name="Text 8"/>
          <p:cNvSpPr/>
          <p:nvPr/>
        </p:nvSpPr>
        <p:spPr>
          <a:xfrm>
            <a:off x="6492240" y="2926080"/>
            <a:ext cx="480060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Structured JSON Output</a:t>
            </a:r>
            <a:endParaRPr lang="en-US" sz="1600" dirty="0"/>
          </a:p>
        </p:txBody>
      </p:sp>
      <p:sp>
        <p:nvSpPr>
          <p:cNvPr id="13" name="Text 9"/>
          <p:cNvSpPr/>
          <p:nvPr/>
        </p:nvSpPr>
        <p:spPr>
          <a:xfrm>
            <a:off x="6492240" y="3264408"/>
            <a:ext cx="4800600" cy="457200"/>
          </a:xfrm>
          <a:prstGeom prst="rect">
            <a:avLst/>
          </a:prstGeom>
          <a:noFill/>
          <a:ln/>
        </p:spPr>
        <p:txBody>
          <a:bodyPr wrap="square" lIns="0" tIns="0" rIns="0" bIns="0" rtlCol="0" anchor="ctr"/>
          <a:lstStyle/>
          <a:p>
            <a:pPr indent="0" marL="0">
              <a:buNone/>
            </a:pPr>
            <a:r>
              <a:rPr lang="en-US" sz="1250" dirty="0">
                <a:solidFill>
                  <a:srgbClr val="5A6B7B"/>
                </a:solidFill>
                <a:latin typeface="Calibri" pitchFamily="34" charset="0"/>
                <a:ea typeface="Calibri" pitchFamily="34" charset="-122"/>
                <a:cs typeface="Calibri" pitchFamily="34" charset="-120"/>
              </a:rPr>
              <a:t>Strict schema enforcement guarantees reliable, parsable generation every time.</a:t>
            </a:r>
            <a:endParaRPr lang="en-US" sz="1250" dirty="0"/>
          </a:p>
        </p:txBody>
      </p:sp>
      <p:sp>
        <p:nvSpPr>
          <p:cNvPr id="14" name="Shape 10"/>
          <p:cNvSpPr/>
          <p:nvPr/>
        </p:nvSpPr>
        <p:spPr>
          <a:xfrm>
            <a:off x="548640" y="3931920"/>
            <a:ext cx="5440680" cy="1965960"/>
          </a:xfrm>
          <a:prstGeom prst="roundRect">
            <a:avLst>
              <a:gd name="adj" fmla="val 4651"/>
            </a:avLst>
          </a:prstGeom>
          <a:solidFill>
            <a:srgbClr val="FFFFFF"/>
          </a:solidFill>
          <a:ln/>
          <a:effectLst>
            <a:outerShdw sx="100000" sy="100000" kx="0" ky="0" algn="bl" rotWithShape="0" blurRad="76200" dist="25400" dir="5400000">
              <a:srgbClr val="1B4965">
                <a:alpha val="12000"/>
              </a:srgbClr>
            </a:outerShdw>
          </a:effectLst>
        </p:spPr>
      </p:sp>
      <p:sp>
        <p:nvSpPr>
          <p:cNvPr id="15" name="Shape 11"/>
          <p:cNvSpPr/>
          <p:nvPr/>
        </p:nvSpPr>
        <p:spPr>
          <a:xfrm>
            <a:off x="868680" y="4251960"/>
            <a:ext cx="685800" cy="685800"/>
          </a:xfrm>
          <a:prstGeom prst="ellipse">
            <a:avLst/>
          </a:prstGeom>
          <a:solidFill>
            <a:srgbClr val="0B2545"/>
          </a:solidFill>
          <a:ln/>
        </p:spPr>
      </p:sp>
      <p:pic>
        <p:nvPicPr>
          <p:cNvPr id="16" name="Image 2" descr="/home/claude/finwise/FaBolt_FFFFFF.png">    </p:cNvPr>
          <p:cNvPicPr>
            <a:picLocks noChangeAspect="1"/>
          </p:cNvPicPr>
          <p:nvPr/>
        </p:nvPicPr>
        <p:blipFill>
          <a:blip r:embed="rId3"/>
          <a:stretch>
            <a:fillRect/>
          </a:stretch>
        </p:blipFill>
        <p:spPr>
          <a:xfrm>
            <a:off x="1040130" y="4423410"/>
            <a:ext cx="342900" cy="342900"/>
          </a:xfrm>
          <a:prstGeom prst="rect">
            <a:avLst/>
          </a:prstGeom>
        </p:spPr>
      </p:pic>
      <p:sp>
        <p:nvSpPr>
          <p:cNvPr id="17" name="Text 12"/>
          <p:cNvSpPr/>
          <p:nvPr/>
        </p:nvSpPr>
        <p:spPr>
          <a:xfrm>
            <a:off x="868680" y="5074920"/>
            <a:ext cx="480060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Streaming Responses</a:t>
            </a:r>
            <a:endParaRPr lang="en-US" sz="1600" dirty="0"/>
          </a:p>
        </p:txBody>
      </p:sp>
      <p:sp>
        <p:nvSpPr>
          <p:cNvPr id="18" name="Text 13"/>
          <p:cNvSpPr/>
          <p:nvPr/>
        </p:nvSpPr>
        <p:spPr>
          <a:xfrm>
            <a:off x="868680" y="5413248"/>
            <a:ext cx="4800600" cy="457200"/>
          </a:xfrm>
          <a:prstGeom prst="rect">
            <a:avLst/>
          </a:prstGeom>
          <a:noFill/>
          <a:ln/>
        </p:spPr>
        <p:txBody>
          <a:bodyPr wrap="square" lIns="0" tIns="0" rIns="0" bIns="0" rtlCol="0" anchor="ctr"/>
          <a:lstStyle/>
          <a:p>
            <a:pPr indent="0" marL="0">
              <a:buNone/>
            </a:pPr>
            <a:r>
              <a:rPr lang="en-US" sz="1250" dirty="0">
                <a:solidFill>
                  <a:srgbClr val="5A6B7B"/>
                </a:solidFill>
                <a:latin typeface="Calibri" pitchFamily="34" charset="0"/>
                <a:ea typeface="Calibri" pitchFamily="34" charset="-122"/>
                <a:cs typeface="Calibri" pitchFamily="34" charset="-120"/>
              </a:rPr>
              <a:t>A real-time streaming generator delivers a natural, character-by-character typing effect.</a:t>
            </a:r>
            <a:endParaRPr lang="en-US" sz="1250" dirty="0"/>
          </a:p>
        </p:txBody>
      </p:sp>
      <p:sp>
        <p:nvSpPr>
          <p:cNvPr id="19" name="Shape 14"/>
          <p:cNvSpPr/>
          <p:nvPr/>
        </p:nvSpPr>
        <p:spPr>
          <a:xfrm>
            <a:off x="6172200" y="3931920"/>
            <a:ext cx="5440680" cy="1965960"/>
          </a:xfrm>
          <a:prstGeom prst="roundRect">
            <a:avLst>
              <a:gd name="adj" fmla="val 4651"/>
            </a:avLst>
          </a:prstGeom>
          <a:solidFill>
            <a:srgbClr val="FFFFFF"/>
          </a:solidFill>
          <a:ln/>
          <a:effectLst>
            <a:outerShdw sx="100000" sy="100000" kx="0" ky="0" algn="bl" rotWithShape="0" blurRad="76200" dist="25400" dir="5400000">
              <a:srgbClr val="1B4965">
                <a:alpha val="12000"/>
              </a:srgbClr>
            </a:outerShdw>
          </a:effectLst>
        </p:spPr>
      </p:sp>
      <p:sp>
        <p:nvSpPr>
          <p:cNvPr id="20" name="Shape 15"/>
          <p:cNvSpPr/>
          <p:nvPr/>
        </p:nvSpPr>
        <p:spPr>
          <a:xfrm>
            <a:off x="6492240" y="4251960"/>
            <a:ext cx="685800" cy="685800"/>
          </a:xfrm>
          <a:prstGeom prst="ellipse">
            <a:avLst/>
          </a:prstGeom>
          <a:solidFill>
            <a:srgbClr val="0B2545"/>
          </a:solidFill>
          <a:ln/>
        </p:spPr>
      </p:sp>
      <p:pic>
        <p:nvPicPr>
          <p:cNvPr id="21" name="Image 3" descr="/home/claude/finwise/FaDesktop_FFFFFF.png">    </p:cNvPr>
          <p:cNvPicPr>
            <a:picLocks noChangeAspect="1"/>
          </p:cNvPicPr>
          <p:nvPr/>
        </p:nvPicPr>
        <p:blipFill>
          <a:blip r:embed="rId4"/>
          <a:stretch>
            <a:fillRect/>
          </a:stretch>
        </p:blipFill>
        <p:spPr>
          <a:xfrm>
            <a:off x="6663690" y="4423410"/>
            <a:ext cx="342900" cy="342900"/>
          </a:xfrm>
          <a:prstGeom prst="rect">
            <a:avLst/>
          </a:prstGeom>
        </p:spPr>
      </p:pic>
      <p:sp>
        <p:nvSpPr>
          <p:cNvPr id="22" name="Text 16"/>
          <p:cNvSpPr/>
          <p:nvPr/>
        </p:nvSpPr>
        <p:spPr>
          <a:xfrm>
            <a:off x="6492240" y="5074920"/>
            <a:ext cx="480060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Interactive UI</a:t>
            </a:r>
            <a:endParaRPr lang="en-US" sz="1600" dirty="0"/>
          </a:p>
        </p:txBody>
      </p:sp>
      <p:sp>
        <p:nvSpPr>
          <p:cNvPr id="23" name="Text 17"/>
          <p:cNvSpPr/>
          <p:nvPr/>
        </p:nvSpPr>
        <p:spPr>
          <a:xfrm>
            <a:off x="6492240" y="5413248"/>
            <a:ext cx="4800600" cy="457200"/>
          </a:xfrm>
          <a:prstGeom prst="rect">
            <a:avLst/>
          </a:prstGeom>
          <a:noFill/>
          <a:ln/>
        </p:spPr>
        <p:txBody>
          <a:bodyPr wrap="square" lIns="0" tIns="0" rIns="0" bIns="0" rtlCol="0" anchor="ctr"/>
          <a:lstStyle/>
          <a:p>
            <a:pPr indent="0" marL="0">
              <a:buNone/>
            </a:pPr>
            <a:r>
              <a:rPr lang="en-US" sz="1250" dirty="0">
                <a:solidFill>
                  <a:srgbClr val="5A6B7B"/>
                </a:solidFill>
                <a:latin typeface="Calibri" pitchFamily="34" charset="0"/>
                <a:ea typeface="Calibri" pitchFamily="34" charset="-122"/>
                <a:cs typeface="Calibri" pitchFamily="34" charset="-120"/>
              </a:rPr>
              <a:t>Built with Streamlit — tabs, sidebars, and dynamic metrics for a responsive experience.</a:t>
            </a:r>
            <a:endParaRPr lang="en-US" sz="1250" dirty="0"/>
          </a:p>
        </p:txBody>
      </p:sp>
      <p:sp>
        <p:nvSpPr>
          <p:cNvPr id="25" name="Text 18"/>
          <p:cNvSpPr/>
          <p:nvPr/>
        </p:nvSpPr>
        <p:spPr>
          <a:xfrm>
            <a:off x="457200" y="6537960"/>
            <a:ext cx="3657600" cy="274320"/>
          </a:xfrm>
          <a:prstGeom prst="rect">
            <a:avLst/>
          </a:prstGeom>
          <a:noFill/>
          <a:ln/>
        </p:spPr>
        <p:txBody>
          <a:bodyPr wrap="square" rtlCol="0" anchor="ctr"/>
          <a:lstStyle/>
          <a:p>
            <a:pPr algn="l" indent="0" marL="0">
              <a:buNone/>
            </a:pPr>
            <a:r>
              <a:rPr lang="en-US" sz="1000" dirty="0">
                <a:solidFill>
                  <a:srgbClr val="5A6B7B"/>
                </a:solidFill>
                <a:latin typeface="Calibri" pitchFamily="34" charset="0"/>
                <a:ea typeface="Calibri" pitchFamily="34" charset="-122"/>
                <a:cs typeface="Calibri" pitchFamily="34" charset="-120"/>
              </a:rPr>
              <a:t>FinWise AI</a:t>
            </a:r>
            <a:endParaRPr lang="en-US" sz="1000" dirty="0"/>
          </a:p>
        </p:txBody>
      </p:sp>
      <p:sp>
        <p:nvSpPr>
          <p:cNvPr id="26" name="Text 19"/>
          <p:cNvSpPr/>
          <p:nvPr/>
        </p:nvSpPr>
        <p:spPr>
          <a:xfrm>
            <a:off x="11247120" y="653796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B"/>
        </a:solidFill>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a:ln/>
        </p:spPr>
        <p:txBody>
          <a:bodyPr wrap="square"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Smart Caching Strategy</a:t>
            </a:r>
            <a:endParaRPr lang="en-US" sz="3200" dirty="0"/>
          </a:p>
        </p:txBody>
      </p:sp>
      <p:sp>
        <p:nvSpPr>
          <p:cNvPr id="3" name="Text 1"/>
          <p:cNvSpPr/>
          <p:nvPr/>
        </p:nvSpPr>
        <p:spPr>
          <a:xfrm>
            <a:off x="548640" y="987552"/>
            <a:ext cx="10058400" cy="365760"/>
          </a:xfrm>
          <a:prstGeom prst="rect">
            <a:avLst/>
          </a:prstGeom>
          <a:noFill/>
          <a:ln/>
        </p:spPr>
        <p:txBody>
          <a:bodyPr wrap="square"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Reducing OpenAI API costs and latency with LangChain's native caching</a:t>
            </a:r>
            <a:endParaRPr lang="en-US" sz="1400" dirty="0"/>
          </a:p>
        </p:txBody>
      </p:sp>
      <p:sp>
        <p:nvSpPr>
          <p:cNvPr id="4" name="Shape 2"/>
          <p:cNvSpPr/>
          <p:nvPr/>
        </p:nvSpPr>
        <p:spPr>
          <a:xfrm>
            <a:off x="548640" y="1737360"/>
            <a:ext cx="5212080" cy="3246120"/>
          </a:xfrm>
          <a:prstGeom prst="roundRect">
            <a:avLst>
              <a:gd name="adj" fmla="val 2817"/>
            </a:avLst>
          </a:prstGeom>
          <a:solidFill>
            <a:srgbClr val="FFFFFF"/>
          </a:solidFill>
          <a:ln/>
          <a:effectLst>
            <a:outerShdw sx="100000" sy="100000" kx="0" ky="0" algn="bl" rotWithShape="0" blurRad="76200" dist="25400" dir="5400000">
              <a:srgbClr val="1B4965">
                <a:alpha val="12000"/>
              </a:srgbClr>
            </a:outerShdw>
          </a:effectLst>
        </p:spPr>
      </p:sp>
      <p:sp>
        <p:nvSpPr>
          <p:cNvPr id="5" name="Shape 3"/>
          <p:cNvSpPr/>
          <p:nvPr/>
        </p:nvSpPr>
        <p:spPr>
          <a:xfrm>
            <a:off x="914400" y="2103120"/>
            <a:ext cx="777240" cy="777240"/>
          </a:xfrm>
          <a:prstGeom prst="ellipse">
            <a:avLst/>
          </a:prstGeom>
          <a:solidFill>
            <a:srgbClr val="134E7C"/>
          </a:solidFill>
          <a:ln/>
        </p:spPr>
      </p:sp>
      <p:pic>
        <p:nvPicPr>
          <p:cNvPr id="6" name="Image 0" descr="/home/claude/finwise/FaMemory_FFFFFF.png">    </p:cNvPr>
          <p:cNvPicPr>
            <a:picLocks noChangeAspect="1"/>
          </p:cNvPicPr>
          <p:nvPr/>
        </p:nvPicPr>
        <p:blipFill>
          <a:blip r:embed="rId1"/>
          <a:stretch>
            <a:fillRect/>
          </a:stretch>
        </p:blipFill>
        <p:spPr>
          <a:xfrm>
            <a:off x="1108710" y="2297430"/>
            <a:ext cx="388620" cy="388620"/>
          </a:xfrm>
          <a:prstGeom prst="rect">
            <a:avLst/>
          </a:prstGeom>
        </p:spPr>
      </p:pic>
      <p:sp>
        <p:nvSpPr>
          <p:cNvPr id="7" name="Text 4"/>
          <p:cNvSpPr/>
          <p:nvPr/>
        </p:nvSpPr>
        <p:spPr>
          <a:xfrm>
            <a:off x="1874520" y="2121408"/>
            <a:ext cx="3566160" cy="384048"/>
          </a:xfrm>
          <a:prstGeom prst="rect">
            <a:avLst/>
          </a:prstGeom>
          <a:noFill/>
          <a:ln/>
        </p:spPr>
        <p:txBody>
          <a:bodyPr wrap="square" lIns="0" tIns="0" rIns="0" bIns="0" rtlCol="0" anchor="ctr"/>
          <a:lstStyle/>
          <a:p>
            <a:pPr indent="0" marL="0">
              <a:buNone/>
            </a:pPr>
            <a:r>
              <a:rPr lang="en-US" sz="1900" b="1" dirty="0">
                <a:solidFill>
                  <a:srgbClr val="0B2545"/>
                </a:solidFill>
                <a:latin typeface="Calibri" pitchFamily="34" charset="0"/>
                <a:ea typeface="Calibri" pitchFamily="34" charset="-122"/>
                <a:cs typeface="Calibri" pitchFamily="34" charset="-120"/>
              </a:rPr>
              <a:t>InMemoryCache</a:t>
            </a:r>
            <a:endParaRPr lang="en-US" sz="1900" dirty="0"/>
          </a:p>
        </p:txBody>
      </p:sp>
      <p:sp>
        <p:nvSpPr>
          <p:cNvPr id="8" name="Text 5"/>
          <p:cNvSpPr/>
          <p:nvPr/>
        </p:nvSpPr>
        <p:spPr>
          <a:xfrm>
            <a:off x="1874520" y="2487168"/>
            <a:ext cx="3566160" cy="292608"/>
          </a:xfrm>
          <a:prstGeom prst="rect">
            <a:avLst/>
          </a:prstGeom>
          <a:noFill/>
          <a:ln/>
        </p:spPr>
        <p:txBody>
          <a:bodyPr wrap="square" lIns="0" tIns="0" rIns="0" bIns="0" rtlCol="0" anchor="ctr"/>
          <a:lstStyle/>
          <a:p>
            <a:pPr indent="0" marL="0">
              <a:buNone/>
            </a:pPr>
            <a:r>
              <a:rPr lang="en-US" sz="1200" i="1" dirty="0">
                <a:solidFill>
                  <a:srgbClr val="00C2A8"/>
                </a:solidFill>
                <a:latin typeface="Calibri" pitchFamily="34" charset="0"/>
                <a:ea typeface="Calibri" pitchFamily="34" charset="-122"/>
                <a:cs typeface="Calibri" pitchFamily="34" charset="-120"/>
              </a:rPr>
              <a:t>Fast &amp; ephemeral</a:t>
            </a:r>
            <a:endParaRPr lang="en-US" sz="1200" dirty="0"/>
          </a:p>
        </p:txBody>
      </p:sp>
      <p:sp>
        <p:nvSpPr>
          <p:cNvPr id="9" name="Text 6"/>
          <p:cNvSpPr/>
          <p:nvPr/>
        </p:nvSpPr>
        <p:spPr>
          <a:xfrm>
            <a:off x="914400" y="3154680"/>
            <a:ext cx="4480560" cy="1645920"/>
          </a:xfrm>
          <a:prstGeom prst="rect">
            <a:avLst/>
          </a:prstGeom>
          <a:noFill/>
          <a:ln/>
        </p:spPr>
        <p:txBody>
          <a:bodyPr wrap="square" rtlCol="0" anchor="ctr"/>
          <a:lstStyle/>
          <a:p>
            <a:pPr marL="342900" indent="-342900">
              <a:spcAft>
                <a:spcPts val="1000"/>
              </a:spcAft>
              <a:buSzPct val="100000"/>
              <a:buChar char="●"/>
            </a:pPr>
            <a:r>
              <a:rPr lang="en-US" sz="1350" dirty="0">
                <a:solidFill>
                  <a:srgbClr val="5A6B7B"/>
                </a:solidFill>
                <a:latin typeface="Calibri" pitchFamily="34" charset="0"/>
                <a:ea typeface="Calibri" pitchFamily="34" charset="-122"/>
                <a:cs typeface="Calibri" pitchFamily="34" charset="-120"/>
              </a:rPr>
              <a:t>Stored in RAM</a:t>
            </a:r>
            <a:endParaRPr lang="en-US" sz="1350" dirty="0"/>
          </a:p>
          <a:p>
            <a:pPr marL="342900" indent="-342900">
              <a:spcAft>
                <a:spcPts val="1000"/>
              </a:spcAft>
              <a:buSzPct val="100000"/>
              <a:buChar char="●"/>
            </a:pPr>
            <a:r>
              <a:rPr lang="en-US" sz="1350" dirty="0">
                <a:solidFill>
                  <a:srgbClr val="5A6B7B"/>
                </a:solidFill>
                <a:latin typeface="Calibri" pitchFamily="34" charset="0"/>
                <a:ea typeface="Calibri" pitchFamily="34" charset="-122"/>
                <a:cs typeface="Calibri" pitchFamily="34" charset="-120"/>
              </a:rPr>
              <a:t>Fastest possible lookup</a:t>
            </a:r>
            <a:endParaRPr lang="en-US" sz="1350" dirty="0"/>
          </a:p>
          <a:p>
            <a:pPr marL="342900" indent="-342900">
              <a:spcAft>
                <a:spcPts val="1000"/>
              </a:spcAft>
              <a:buSzPct val="100000"/>
              <a:buChar char="●"/>
            </a:pPr>
            <a:r>
              <a:rPr lang="en-US" sz="1350" dirty="0">
                <a:solidFill>
                  <a:srgbClr val="5A6B7B"/>
                </a:solidFill>
                <a:latin typeface="Calibri" pitchFamily="34" charset="0"/>
                <a:ea typeface="Calibri" pitchFamily="34" charset="-122"/>
                <a:cs typeface="Calibri" pitchFamily="34" charset="-120"/>
              </a:rPr>
              <a:t>Cleared on app restart</a:t>
            </a:r>
            <a:endParaRPr lang="en-US" sz="1350" dirty="0"/>
          </a:p>
          <a:p>
            <a:pPr marL="342900" indent="-342900">
              <a:spcAft>
                <a:spcPts val="1000"/>
              </a:spcAft>
              <a:buSzPct val="100000"/>
              <a:buChar char="●"/>
            </a:pPr>
            <a:r>
              <a:rPr lang="en-US" sz="1350" dirty="0">
                <a:solidFill>
                  <a:srgbClr val="5A6B7B"/>
                </a:solidFill>
                <a:latin typeface="Calibri" pitchFamily="34" charset="0"/>
                <a:ea typeface="Calibri" pitchFamily="34" charset="-122"/>
                <a:cs typeface="Calibri" pitchFamily="34" charset="-120"/>
              </a:rPr>
              <a:t>Best for a single session</a:t>
            </a:r>
            <a:endParaRPr lang="en-US" sz="1350" dirty="0"/>
          </a:p>
        </p:txBody>
      </p:sp>
      <p:sp>
        <p:nvSpPr>
          <p:cNvPr id="10" name="Shape 7"/>
          <p:cNvSpPr/>
          <p:nvPr/>
        </p:nvSpPr>
        <p:spPr>
          <a:xfrm>
            <a:off x="6080760" y="1737360"/>
            <a:ext cx="5212080" cy="3246120"/>
          </a:xfrm>
          <a:prstGeom prst="roundRect">
            <a:avLst>
              <a:gd name="adj" fmla="val 2817"/>
            </a:avLst>
          </a:prstGeom>
          <a:solidFill>
            <a:srgbClr val="FFFFFF"/>
          </a:solidFill>
          <a:ln/>
          <a:effectLst>
            <a:outerShdw sx="100000" sy="100000" kx="0" ky="0" algn="bl" rotWithShape="0" blurRad="76200" dist="25400" dir="5400000">
              <a:srgbClr val="1B4965">
                <a:alpha val="12000"/>
              </a:srgbClr>
            </a:outerShdw>
          </a:effectLst>
        </p:spPr>
      </p:sp>
      <p:sp>
        <p:nvSpPr>
          <p:cNvPr id="11" name="Shape 8"/>
          <p:cNvSpPr/>
          <p:nvPr/>
        </p:nvSpPr>
        <p:spPr>
          <a:xfrm>
            <a:off x="6446520" y="2103120"/>
            <a:ext cx="777240" cy="777240"/>
          </a:xfrm>
          <a:prstGeom prst="ellipse">
            <a:avLst/>
          </a:prstGeom>
          <a:solidFill>
            <a:srgbClr val="134E7C"/>
          </a:solidFill>
          <a:ln/>
        </p:spPr>
      </p:sp>
      <p:pic>
        <p:nvPicPr>
          <p:cNvPr id="12" name="Image 1" descr="/home/claude/finwise/FaDatabase_FFFFFF.png">    </p:cNvPr>
          <p:cNvPicPr>
            <a:picLocks noChangeAspect="1"/>
          </p:cNvPicPr>
          <p:nvPr/>
        </p:nvPicPr>
        <p:blipFill>
          <a:blip r:embed="rId2"/>
          <a:stretch>
            <a:fillRect/>
          </a:stretch>
        </p:blipFill>
        <p:spPr>
          <a:xfrm>
            <a:off x="6640830" y="2297430"/>
            <a:ext cx="388620" cy="388620"/>
          </a:xfrm>
          <a:prstGeom prst="rect">
            <a:avLst/>
          </a:prstGeom>
        </p:spPr>
      </p:pic>
      <p:sp>
        <p:nvSpPr>
          <p:cNvPr id="13" name="Text 9"/>
          <p:cNvSpPr/>
          <p:nvPr/>
        </p:nvSpPr>
        <p:spPr>
          <a:xfrm>
            <a:off x="7406640" y="2121408"/>
            <a:ext cx="3566160" cy="384048"/>
          </a:xfrm>
          <a:prstGeom prst="rect">
            <a:avLst/>
          </a:prstGeom>
          <a:noFill/>
          <a:ln/>
        </p:spPr>
        <p:txBody>
          <a:bodyPr wrap="square" lIns="0" tIns="0" rIns="0" bIns="0" rtlCol="0" anchor="ctr"/>
          <a:lstStyle/>
          <a:p>
            <a:pPr indent="0" marL="0">
              <a:buNone/>
            </a:pPr>
            <a:r>
              <a:rPr lang="en-US" sz="1900" b="1" dirty="0">
                <a:solidFill>
                  <a:srgbClr val="0B2545"/>
                </a:solidFill>
                <a:latin typeface="Calibri" pitchFamily="34" charset="0"/>
                <a:ea typeface="Calibri" pitchFamily="34" charset="-122"/>
                <a:cs typeface="Calibri" pitchFamily="34" charset="-120"/>
              </a:rPr>
              <a:t>SQLiteCache</a:t>
            </a:r>
            <a:endParaRPr lang="en-US" sz="1900" dirty="0"/>
          </a:p>
        </p:txBody>
      </p:sp>
      <p:sp>
        <p:nvSpPr>
          <p:cNvPr id="14" name="Text 10"/>
          <p:cNvSpPr/>
          <p:nvPr/>
        </p:nvSpPr>
        <p:spPr>
          <a:xfrm>
            <a:off x="7406640" y="2487168"/>
            <a:ext cx="3566160" cy="292608"/>
          </a:xfrm>
          <a:prstGeom prst="rect">
            <a:avLst/>
          </a:prstGeom>
          <a:noFill/>
          <a:ln/>
        </p:spPr>
        <p:txBody>
          <a:bodyPr wrap="square" lIns="0" tIns="0" rIns="0" bIns="0" rtlCol="0" anchor="ctr"/>
          <a:lstStyle/>
          <a:p>
            <a:pPr indent="0" marL="0">
              <a:buNone/>
            </a:pPr>
            <a:r>
              <a:rPr lang="en-US" sz="1200" i="1" dirty="0">
                <a:solidFill>
                  <a:srgbClr val="00C2A8"/>
                </a:solidFill>
                <a:latin typeface="Calibri" pitchFamily="34" charset="0"/>
                <a:ea typeface="Calibri" pitchFamily="34" charset="-122"/>
                <a:cs typeface="Calibri" pitchFamily="34" charset="-120"/>
              </a:rPr>
              <a:t>Persistent &amp; durable</a:t>
            </a:r>
            <a:endParaRPr lang="en-US" sz="1200" dirty="0"/>
          </a:p>
        </p:txBody>
      </p:sp>
      <p:sp>
        <p:nvSpPr>
          <p:cNvPr id="15" name="Text 11"/>
          <p:cNvSpPr/>
          <p:nvPr/>
        </p:nvSpPr>
        <p:spPr>
          <a:xfrm>
            <a:off x="6446520" y="3154680"/>
            <a:ext cx="4480560" cy="1645920"/>
          </a:xfrm>
          <a:prstGeom prst="rect">
            <a:avLst/>
          </a:prstGeom>
          <a:noFill/>
          <a:ln/>
        </p:spPr>
        <p:txBody>
          <a:bodyPr wrap="square" rtlCol="0" anchor="ctr"/>
          <a:lstStyle/>
          <a:p>
            <a:pPr marL="342900" indent="-342900">
              <a:spcAft>
                <a:spcPts val="1000"/>
              </a:spcAft>
              <a:buSzPct val="100000"/>
              <a:buChar char="●"/>
            </a:pPr>
            <a:r>
              <a:rPr lang="en-US" sz="1350" dirty="0">
                <a:solidFill>
                  <a:srgbClr val="5A6B7B"/>
                </a:solidFill>
                <a:latin typeface="Calibri" pitchFamily="34" charset="0"/>
                <a:ea typeface="Calibri" pitchFamily="34" charset="-122"/>
                <a:cs typeface="Calibri" pitchFamily="34" charset="-120"/>
              </a:rPr>
              <a:t>Stored on disk (.langchain.db)</a:t>
            </a:r>
            <a:endParaRPr lang="en-US" sz="1350" dirty="0"/>
          </a:p>
          <a:p>
            <a:pPr marL="342900" indent="-342900">
              <a:spcAft>
                <a:spcPts val="1000"/>
              </a:spcAft>
              <a:buSzPct val="100000"/>
              <a:buChar char="●"/>
            </a:pPr>
            <a:r>
              <a:rPr lang="en-US" sz="1350" dirty="0">
                <a:solidFill>
                  <a:srgbClr val="5A6B7B"/>
                </a:solidFill>
                <a:latin typeface="Calibri" pitchFamily="34" charset="0"/>
                <a:ea typeface="Calibri" pitchFamily="34" charset="-122"/>
                <a:cs typeface="Calibri" pitchFamily="34" charset="-120"/>
              </a:rPr>
              <a:t>Slightly slower than RAM</a:t>
            </a:r>
            <a:endParaRPr lang="en-US" sz="1350" dirty="0"/>
          </a:p>
          <a:p>
            <a:pPr marL="342900" indent="-342900">
              <a:spcAft>
                <a:spcPts val="1000"/>
              </a:spcAft>
              <a:buSzPct val="100000"/>
              <a:buChar char="●"/>
            </a:pPr>
            <a:r>
              <a:rPr lang="en-US" sz="1350" dirty="0">
                <a:solidFill>
                  <a:srgbClr val="5A6B7B"/>
                </a:solidFill>
                <a:latin typeface="Calibri" pitchFamily="34" charset="0"/>
                <a:ea typeface="Calibri" pitchFamily="34" charset="-122"/>
                <a:cs typeface="Calibri" pitchFamily="34" charset="-120"/>
              </a:rPr>
              <a:t>Survives app restarts</a:t>
            </a:r>
            <a:endParaRPr lang="en-US" sz="1350" dirty="0"/>
          </a:p>
          <a:p>
            <a:pPr marL="342900" indent="-342900">
              <a:spcAft>
                <a:spcPts val="1000"/>
              </a:spcAft>
              <a:buSzPct val="100000"/>
              <a:buChar char="●"/>
            </a:pPr>
            <a:r>
              <a:rPr lang="en-US" sz="1350" dirty="0">
                <a:solidFill>
                  <a:srgbClr val="5A6B7B"/>
                </a:solidFill>
                <a:latin typeface="Calibri" pitchFamily="34" charset="0"/>
                <a:ea typeface="Calibri" pitchFamily="34" charset="-122"/>
                <a:cs typeface="Calibri" pitchFamily="34" charset="-120"/>
              </a:rPr>
              <a:t>Best across multiple sessions</a:t>
            </a:r>
            <a:endParaRPr lang="en-US" sz="1350" dirty="0"/>
          </a:p>
        </p:txBody>
      </p:sp>
      <p:sp>
        <p:nvSpPr>
          <p:cNvPr id="16" name="Shape 12"/>
          <p:cNvSpPr/>
          <p:nvPr/>
        </p:nvSpPr>
        <p:spPr>
          <a:xfrm>
            <a:off x="548640" y="5212080"/>
            <a:ext cx="10744200" cy="594360"/>
          </a:xfrm>
          <a:prstGeom prst="roundRect">
            <a:avLst>
              <a:gd name="adj" fmla="val 15385"/>
            </a:avLst>
          </a:prstGeom>
          <a:solidFill>
            <a:srgbClr val="0B2545"/>
          </a:solidFill>
          <a:ln/>
        </p:spPr>
      </p:sp>
      <p:sp>
        <p:nvSpPr>
          <p:cNvPr id="17" name="Shape 13"/>
          <p:cNvSpPr/>
          <p:nvPr/>
        </p:nvSpPr>
        <p:spPr>
          <a:xfrm>
            <a:off x="777240" y="5303520"/>
            <a:ext cx="411480" cy="411480"/>
          </a:xfrm>
          <a:prstGeom prst="ellipse">
            <a:avLst/>
          </a:prstGeom>
          <a:solidFill>
            <a:srgbClr val="00C2A8"/>
          </a:solidFill>
          <a:ln/>
        </p:spPr>
      </p:sp>
      <p:pic>
        <p:nvPicPr>
          <p:cNvPr id="18" name="Image 2" descr="/home/claude/finwise/FaToggleOn_FFFFFF.png">    </p:cNvPr>
          <p:cNvPicPr>
            <a:picLocks noChangeAspect="1"/>
          </p:cNvPicPr>
          <p:nvPr/>
        </p:nvPicPr>
        <p:blipFill>
          <a:blip r:embed="rId3"/>
          <a:stretch>
            <a:fillRect/>
          </a:stretch>
        </p:blipFill>
        <p:spPr>
          <a:xfrm>
            <a:off x="869823" y="5396103"/>
            <a:ext cx="226314" cy="226314"/>
          </a:xfrm>
          <a:prstGeom prst="rect">
            <a:avLst/>
          </a:prstGeom>
        </p:spPr>
      </p:pic>
      <p:sp>
        <p:nvSpPr>
          <p:cNvPr id="19" name="Text 14"/>
          <p:cNvSpPr/>
          <p:nvPr/>
        </p:nvSpPr>
        <p:spPr>
          <a:xfrm>
            <a:off x="1371600" y="5212080"/>
            <a:ext cx="9784080" cy="5943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User Control:  toggle between caching modes directly from the sidebar</a:t>
            </a:r>
            <a:endParaRPr lang="en-US" sz="1350" dirty="0"/>
          </a:p>
        </p:txBody>
      </p:sp>
      <p:sp>
        <p:nvSpPr>
          <p:cNvPr id="21" name="Text 15"/>
          <p:cNvSpPr/>
          <p:nvPr/>
        </p:nvSpPr>
        <p:spPr>
          <a:xfrm>
            <a:off x="457200" y="6537960"/>
            <a:ext cx="3657600" cy="274320"/>
          </a:xfrm>
          <a:prstGeom prst="rect">
            <a:avLst/>
          </a:prstGeom>
          <a:noFill/>
          <a:ln/>
        </p:spPr>
        <p:txBody>
          <a:bodyPr wrap="square" rtlCol="0" anchor="ctr"/>
          <a:lstStyle/>
          <a:p>
            <a:pPr algn="l" indent="0" marL="0">
              <a:buNone/>
            </a:pPr>
            <a:r>
              <a:rPr lang="en-US" sz="1000" dirty="0">
                <a:solidFill>
                  <a:srgbClr val="5A6B7B"/>
                </a:solidFill>
                <a:latin typeface="Calibri" pitchFamily="34" charset="0"/>
                <a:ea typeface="Calibri" pitchFamily="34" charset="-122"/>
                <a:cs typeface="Calibri" pitchFamily="34" charset="-120"/>
              </a:rPr>
              <a:t>FinWise AI</a:t>
            </a:r>
            <a:endParaRPr lang="en-US" sz="1000" dirty="0"/>
          </a:p>
        </p:txBody>
      </p:sp>
      <p:sp>
        <p:nvSpPr>
          <p:cNvPr id="22" name="Text 16"/>
          <p:cNvSpPr/>
          <p:nvPr/>
        </p:nvSpPr>
        <p:spPr>
          <a:xfrm>
            <a:off x="11247120" y="653796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1463040" y="4206240"/>
            <a:ext cx="4754880" cy="4754880"/>
          </a:xfrm>
          <a:prstGeom prst="ellipse">
            <a:avLst/>
          </a:prstGeom>
          <a:ln w="19050">
            <a:solidFill>
              <a:srgbClr val="134E7C"/>
            </a:solidFill>
            <a:prstDash val="solid"/>
          </a:ln>
        </p:spPr>
      </p:sp>
      <p:sp>
        <p:nvSpPr>
          <p:cNvPr id="3" name="Text 1"/>
          <p:cNvSpPr/>
          <p:nvPr/>
        </p:nvSpPr>
        <p:spPr>
          <a:xfrm>
            <a:off x="548640" y="457200"/>
            <a:ext cx="914400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Advanced Capabilities</a:t>
            </a:r>
            <a:endParaRPr lang="en-US" sz="3200" dirty="0"/>
          </a:p>
        </p:txBody>
      </p:sp>
      <p:sp>
        <p:nvSpPr>
          <p:cNvPr id="4" name="Text 2"/>
          <p:cNvSpPr/>
          <p:nvPr/>
        </p:nvSpPr>
        <p:spPr>
          <a:xfrm>
            <a:off x="548640" y="1033272"/>
            <a:ext cx="9144000" cy="365760"/>
          </a:xfrm>
          <a:prstGeom prst="rect">
            <a:avLst/>
          </a:prstGeom>
          <a:noFill/>
          <a:ln/>
        </p:spPr>
        <p:txBody>
          <a:bodyPr wrap="square"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Bonus features that round out the user experience</a:t>
            </a:r>
            <a:endParaRPr lang="en-US" sz="1400" dirty="0"/>
          </a:p>
        </p:txBody>
      </p:sp>
      <p:sp>
        <p:nvSpPr>
          <p:cNvPr id="5" name="Shape 3"/>
          <p:cNvSpPr/>
          <p:nvPr/>
        </p:nvSpPr>
        <p:spPr>
          <a:xfrm>
            <a:off x="548640" y="1874520"/>
            <a:ext cx="5440680" cy="1874520"/>
          </a:xfrm>
          <a:prstGeom prst="roundRect">
            <a:avLst>
              <a:gd name="adj" fmla="val 4878"/>
            </a:avLst>
          </a:prstGeom>
          <a:solidFill>
            <a:srgbClr val="081B33"/>
          </a:solidFill>
          <a:ln w="9525">
            <a:solidFill>
              <a:srgbClr val="134E7C"/>
            </a:solidFill>
            <a:prstDash val="solid"/>
          </a:ln>
        </p:spPr>
      </p:sp>
      <p:sp>
        <p:nvSpPr>
          <p:cNvPr id="6" name="Shape 4"/>
          <p:cNvSpPr/>
          <p:nvPr/>
        </p:nvSpPr>
        <p:spPr>
          <a:xfrm>
            <a:off x="868680" y="2167128"/>
            <a:ext cx="640080" cy="640080"/>
          </a:xfrm>
          <a:prstGeom prst="ellipse">
            <a:avLst/>
          </a:prstGeom>
          <a:solidFill>
            <a:srgbClr val="00C2A8"/>
          </a:solidFill>
          <a:ln/>
        </p:spPr>
      </p:sp>
      <p:pic>
        <p:nvPicPr>
          <p:cNvPr id="7" name="Image 0" descr="/home/claude/finwise/FaChartPie_FFFFFF.png">    </p:cNvPr>
          <p:cNvPicPr>
            <a:picLocks noChangeAspect="1"/>
          </p:cNvPicPr>
          <p:nvPr/>
        </p:nvPicPr>
        <p:blipFill>
          <a:blip r:embed="rId1"/>
          <a:stretch>
            <a:fillRect/>
          </a:stretch>
        </p:blipFill>
        <p:spPr>
          <a:xfrm>
            <a:off x="1028700" y="2327148"/>
            <a:ext cx="320040" cy="320040"/>
          </a:xfrm>
          <a:prstGeom prst="rect">
            <a:avLst/>
          </a:prstGeom>
        </p:spPr>
      </p:pic>
      <p:sp>
        <p:nvSpPr>
          <p:cNvPr id="8" name="Text 5"/>
          <p:cNvSpPr/>
          <p:nvPr/>
        </p:nvSpPr>
        <p:spPr>
          <a:xfrm>
            <a:off x="868680" y="2898648"/>
            <a:ext cx="4800600" cy="36576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Data Visualization</a:t>
            </a:r>
            <a:endParaRPr lang="en-US" sz="1550" dirty="0"/>
          </a:p>
        </p:txBody>
      </p:sp>
      <p:sp>
        <p:nvSpPr>
          <p:cNvPr id="9" name="Text 6"/>
          <p:cNvSpPr/>
          <p:nvPr/>
        </p:nvSpPr>
        <p:spPr>
          <a:xfrm>
            <a:off x="868680" y="3227832"/>
            <a:ext cx="4800600" cy="45720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Interactive expense breakdown charts built with Plotly.</a:t>
            </a:r>
            <a:endParaRPr lang="en-US" sz="1250" dirty="0"/>
          </a:p>
        </p:txBody>
      </p:sp>
      <p:sp>
        <p:nvSpPr>
          <p:cNvPr id="10" name="Shape 7"/>
          <p:cNvSpPr/>
          <p:nvPr/>
        </p:nvSpPr>
        <p:spPr>
          <a:xfrm>
            <a:off x="6172200" y="1874520"/>
            <a:ext cx="5440680" cy="1874520"/>
          </a:xfrm>
          <a:prstGeom prst="roundRect">
            <a:avLst>
              <a:gd name="adj" fmla="val 4878"/>
            </a:avLst>
          </a:prstGeom>
          <a:solidFill>
            <a:srgbClr val="081B33"/>
          </a:solidFill>
          <a:ln w="9525">
            <a:solidFill>
              <a:srgbClr val="134E7C"/>
            </a:solidFill>
            <a:prstDash val="solid"/>
          </a:ln>
        </p:spPr>
      </p:sp>
      <p:sp>
        <p:nvSpPr>
          <p:cNvPr id="11" name="Shape 8"/>
          <p:cNvSpPr/>
          <p:nvPr/>
        </p:nvSpPr>
        <p:spPr>
          <a:xfrm>
            <a:off x="6492240" y="2167128"/>
            <a:ext cx="640080" cy="640080"/>
          </a:xfrm>
          <a:prstGeom prst="ellipse">
            <a:avLst/>
          </a:prstGeom>
          <a:solidFill>
            <a:srgbClr val="00C2A8"/>
          </a:solidFill>
          <a:ln/>
        </p:spPr>
      </p:sp>
      <p:pic>
        <p:nvPicPr>
          <p:cNvPr id="12" name="Image 1" descr="/home/claude/finwise/FaFilePdf_FFFFFF.png">    </p:cNvPr>
          <p:cNvPicPr>
            <a:picLocks noChangeAspect="1"/>
          </p:cNvPicPr>
          <p:nvPr/>
        </p:nvPicPr>
        <p:blipFill>
          <a:blip r:embed="rId2"/>
          <a:stretch>
            <a:fillRect/>
          </a:stretch>
        </p:blipFill>
        <p:spPr>
          <a:xfrm>
            <a:off x="6652260" y="2327148"/>
            <a:ext cx="320040" cy="320040"/>
          </a:xfrm>
          <a:prstGeom prst="rect">
            <a:avLst/>
          </a:prstGeom>
        </p:spPr>
      </p:pic>
      <p:sp>
        <p:nvSpPr>
          <p:cNvPr id="13" name="Text 9"/>
          <p:cNvSpPr/>
          <p:nvPr/>
        </p:nvSpPr>
        <p:spPr>
          <a:xfrm>
            <a:off x="6492240" y="2898648"/>
            <a:ext cx="4800600" cy="36576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Exportable Reports</a:t>
            </a:r>
            <a:endParaRPr lang="en-US" sz="1550" dirty="0"/>
          </a:p>
        </p:txBody>
      </p:sp>
      <p:sp>
        <p:nvSpPr>
          <p:cNvPr id="14" name="Text 10"/>
          <p:cNvSpPr/>
          <p:nvPr/>
        </p:nvSpPr>
        <p:spPr>
          <a:xfrm>
            <a:off x="6492240" y="3227832"/>
            <a:ext cx="4800600" cy="45720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Downloadable PDF summaries generated via fpdf2.</a:t>
            </a:r>
            <a:endParaRPr lang="en-US" sz="1250" dirty="0"/>
          </a:p>
        </p:txBody>
      </p:sp>
      <p:sp>
        <p:nvSpPr>
          <p:cNvPr id="15" name="Shape 11"/>
          <p:cNvSpPr/>
          <p:nvPr/>
        </p:nvSpPr>
        <p:spPr>
          <a:xfrm>
            <a:off x="548640" y="3931920"/>
            <a:ext cx="5440680" cy="1874520"/>
          </a:xfrm>
          <a:prstGeom prst="roundRect">
            <a:avLst>
              <a:gd name="adj" fmla="val 4878"/>
            </a:avLst>
          </a:prstGeom>
          <a:solidFill>
            <a:srgbClr val="081B33"/>
          </a:solidFill>
          <a:ln w="9525">
            <a:solidFill>
              <a:srgbClr val="134E7C"/>
            </a:solidFill>
            <a:prstDash val="solid"/>
          </a:ln>
        </p:spPr>
      </p:sp>
      <p:sp>
        <p:nvSpPr>
          <p:cNvPr id="16" name="Shape 12"/>
          <p:cNvSpPr/>
          <p:nvPr/>
        </p:nvSpPr>
        <p:spPr>
          <a:xfrm>
            <a:off x="868680" y="4224528"/>
            <a:ext cx="640080" cy="640080"/>
          </a:xfrm>
          <a:prstGeom prst="ellipse">
            <a:avLst/>
          </a:prstGeom>
          <a:solidFill>
            <a:srgbClr val="00C2A8"/>
          </a:solidFill>
          <a:ln/>
        </p:spPr>
      </p:sp>
      <p:pic>
        <p:nvPicPr>
          <p:cNvPr id="17" name="Image 2" descr="/home/claude/finwise/FaGlobeAmericas_FFFFFF.png">    </p:cNvPr>
          <p:cNvPicPr>
            <a:picLocks noChangeAspect="1"/>
          </p:cNvPicPr>
          <p:nvPr/>
        </p:nvPicPr>
        <p:blipFill>
          <a:blip r:embed="rId3"/>
          <a:stretch>
            <a:fillRect/>
          </a:stretch>
        </p:blipFill>
        <p:spPr>
          <a:xfrm>
            <a:off x="1028700" y="4384548"/>
            <a:ext cx="320040" cy="320040"/>
          </a:xfrm>
          <a:prstGeom prst="rect">
            <a:avLst/>
          </a:prstGeom>
        </p:spPr>
      </p:pic>
      <p:sp>
        <p:nvSpPr>
          <p:cNvPr id="18" name="Text 13"/>
          <p:cNvSpPr/>
          <p:nvPr/>
        </p:nvSpPr>
        <p:spPr>
          <a:xfrm>
            <a:off x="868680" y="4956048"/>
            <a:ext cx="4800600" cy="36576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Global Support</a:t>
            </a:r>
            <a:endParaRPr lang="en-US" sz="1550" dirty="0"/>
          </a:p>
        </p:txBody>
      </p:sp>
      <p:sp>
        <p:nvSpPr>
          <p:cNvPr id="19" name="Text 14"/>
          <p:cNvSpPr/>
          <p:nvPr/>
        </p:nvSpPr>
        <p:spPr>
          <a:xfrm>
            <a:off x="868680" y="5285232"/>
            <a:ext cx="4800600" cy="45720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Multi-currency compatibility for a wider audience.</a:t>
            </a:r>
            <a:endParaRPr lang="en-US" sz="1250" dirty="0"/>
          </a:p>
        </p:txBody>
      </p:sp>
      <p:sp>
        <p:nvSpPr>
          <p:cNvPr id="20" name="Shape 15"/>
          <p:cNvSpPr/>
          <p:nvPr/>
        </p:nvSpPr>
        <p:spPr>
          <a:xfrm>
            <a:off x="6172200" y="3931920"/>
            <a:ext cx="5440680" cy="1874520"/>
          </a:xfrm>
          <a:prstGeom prst="roundRect">
            <a:avLst>
              <a:gd name="adj" fmla="val 4878"/>
            </a:avLst>
          </a:prstGeom>
          <a:solidFill>
            <a:srgbClr val="081B33"/>
          </a:solidFill>
          <a:ln w="9525">
            <a:solidFill>
              <a:srgbClr val="134E7C"/>
            </a:solidFill>
            <a:prstDash val="solid"/>
          </a:ln>
        </p:spPr>
      </p:sp>
      <p:sp>
        <p:nvSpPr>
          <p:cNvPr id="21" name="Shape 16"/>
          <p:cNvSpPr/>
          <p:nvPr/>
        </p:nvSpPr>
        <p:spPr>
          <a:xfrm>
            <a:off x="6492240" y="4224528"/>
            <a:ext cx="640080" cy="640080"/>
          </a:xfrm>
          <a:prstGeom prst="ellipse">
            <a:avLst/>
          </a:prstGeom>
          <a:solidFill>
            <a:srgbClr val="00C2A8"/>
          </a:solidFill>
          <a:ln/>
        </p:spPr>
      </p:sp>
      <p:pic>
        <p:nvPicPr>
          <p:cNvPr id="22" name="Image 3" descr="/home/claude/finwise/FaHistory_FFFFFF.png">    </p:cNvPr>
          <p:cNvPicPr>
            <a:picLocks noChangeAspect="1"/>
          </p:cNvPicPr>
          <p:nvPr/>
        </p:nvPicPr>
        <p:blipFill>
          <a:blip r:embed="rId4"/>
          <a:stretch>
            <a:fillRect/>
          </a:stretch>
        </p:blipFill>
        <p:spPr>
          <a:xfrm>
            <a:off x="6652260" y="4384548"/>
            <a:ext cx="320040" cy="320040"/>
          </a:xfrm>
          <a:prstGeom prst="rect">
            <a:avLst/>
          </a:prstGeom>
        </p:spPr>
      </p:pic>
      <p:sp>
        <p:nvSpPr>
          <p:cNvPr id="23" name="Text 17"/>
          <p:cNvSpPr/>
          <p:nvPr/>
        </p:nvSpPr>
        <p:spPr>
          <a:xfrm>
            <a:off x="6492240" y="4956048"/>
            <a:ext cx="4800600" cy="36576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Contextual Awareness</a:t>
            </a:r>
            <a:endParaRPr lang="en-US" sz="1550" dirty="0"/>
          </a:p>
        </p:txBody>
      </p:sp>
      <p:sp>
        <p:nvSpPr>
          <p:cNvPr id="24" name="Text 18"/>
          <p:cNvSpPr/>
          <p:nvPr/>
        </p:nvSpPr>
        <p:spPr>
          <a:xfrm>
            <a:off x="6492240" y="5285232"/>
            <a:ext cx="4800600" cy="45720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Conversation history maintained for multi-turn follow-up questions.</a:t>
            </a:r>
            <a:endParaRPr lang="en-US" sz="1250" dirty="0"/>
          </a:p>
        </p:txBody>
      </p:sp>
      <p:sp>
        <p:nvSpPr>
          <p:cNvPr id="26" name="Text 19"/>
          <p:cNvSpPr/>
          <p:nvPr/>
        </p:nvSpPr>
        <p:spPr>
          <a:xfrm>
            <a:off x="457200" y="6537960"/>
            <a:ext cx="3657600" cy="274320"/>
          </a:xfrm>
          <a:prstGeom prst="rect">
            <a:avLst/>
          </a:prstGeom>
          <a:noFill/>
          <a:ln/>
        </p:spPr>
        <p:txBody>
          <a:bodyPr wrap="square"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FinWise AI</a:t>
            </a:r>
            <a:endParaRPr lang="en-US" sz="1000" dirty="0"/>
          </a:p>
        </p:txBody>
      </p:sp>
      <p:sp>
        <p:nvSpPr>
          <p:cNvPr id="27" name="Text 20"/>
          <p:cNvSpPr/>
          <p:nvPr/>
        </p:nvSpPr>
        <p:spPr>
          <a:xfrm>
            <a:off x="11247120" y="6537960"/>
            <a:ext cx="457200" cy="274320"/>
          </a:xfrm>
          <a:prstGeom prst="rect">
            <a:avLst/>
          </a:prstGeom>
          <a:noFill/>
          <a:ln/>
        </p:spPr>
        <p:txBody>
          <a:bodyPr wrap="square"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2026-08-24T14:25:44Z</dcterms:created>
  <dcterms:modified xsi:type="dcterms:W3CDTF">2026-08-24T14:25:44Z</dcterms:modified>
</cp:coreProperties>
</file>